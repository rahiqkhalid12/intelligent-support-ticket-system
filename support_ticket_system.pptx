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60" r:id="rId8"/>
    <p:sldId id="271" r:id="rId9"/>
    <p:sldId id="272" r:id="rId10"/>
    <p:sldId id="273" r:id="rId11"/>
    <p:sldId id="274" r:id="rId12"/>
    <p:sldId id="278" r:id="rId13"/>
    <p:sldId id="275" r:id="rId14"/>
    <p:sldId id="277" r:id="rId15"/>
    <p:sldId id="279" r:id="rId16"/>
    <p:sldId id="280" r:id="rId17"/>
    <p:sldId id="282" r:id="rId18"/>
    <p:sldId id="283" r:id="rId19"/>
    <p:sldId id="281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61" r:id="rId30"/>
    <p:sldId id="293" r:id="rId31"/>
    <p:sldId id="295" r:id="rId32"/>
    <p:sldId id="296" r:id="rId33"/>
    <p:sldId id="297" r:id="rId34"/>
    <p:sldId id="302" r:id="rId35"/>
    <p:sldId id="298" r:id="rId36"/>
    <p:sldId id="299" r:id="rId37"/>
    <p:sldId id="300" r:id="rId38"/>
    <p:sldId id="301" r:id="rId39"/>
    <p:sldId id="304" r:id="rId40"/>
    <p:sldId id="303" r:id="rId41"/>
    <p:sldId id="305" r:id="rId42"/>
    <p:sldId id="306" r:id="rId43"/>
    <p:sldId id="308" r:id="rId44"/>
    <p:sldId id="311" r:id="rId45"/>
    <p:sldId id="310" r:id="rId46"/>
    <p:sldId id="309" r:id="rId47"/>
    <p:sldId id="266" r:id="rId48"/>
    <p:sldId id="267" r:id="rId49"/>
    <p:sldId id="268" r:id="rId50"/>
  </p:sldIdLst>
  <p:sldSz cx="18288000" cy="10287000"/>
  <p:notesSz cx="6858000" cy="9144000"/>
  <p:embeddedFontLs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Calibri Light" panose="020F0302020204030204" pitchFamily="34" charset="0"/>
      <p:regular r:id="rId55"/>
      <p:italic r:id="rId56"/>
    </p:embeddedFont>
    <p:embeddedFont>
      <p:font typeface="TT Supermolot Neue" panose="020B0604020202020204" charset="0"/>
      <p:regular r:id="rId57"/>
    </p:embeddedFont>
    <p:embeddedFont>
      <p:font typeface="TT Supermolot Neue Bold" panose="020B0604020202020204" charset="0"/>
      <p:regular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54" d="100"/>
          <a:sy n="54" d="100"/>
        </p:scale>
        <p:origin x="77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6.png"/><Relationship Id="rId1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19.svg"/><Relationship Id="rId2" Type="http://schemas.openxmlformats.org/officeDocument/2006/relationships/image" Target="../media/image8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7.png"/><Relationship Id="rId10" Type="http://schemas.openxmlformats.org/officeDocument/2006/relationships/image" Target="../media/image14.svg"/><Relationship Id="rId19" Type="http://schemas.openxmlformats.org/officeDocument/2006/relationships/image" Target="../media/image21.svg"/><Relationship Id="rId4" Type="http://schemas.openxmlformats.org/officeDocument/2006/relationships/image" Target="../media/image3.svg"/><Relationship Id="rId9" Type="http://schemas.openxmlformats.org/officeDocument/2006/relationships/image" Target="../media/image13.png"/><Relationship Id="rId1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5.sv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0" Type="http://schemas.openxmlformats.org/officeDocument/2006/relationships/image" Target="../media/image22.png"/><Relationship Id="rId4" Type="http://schemas.openxmlformats.org/officeDocument/2006/relationships/image" Target="../media/image5.svg"/><Relationship Id="rId9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3.sv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25.png"/><Relationship Id="rId5" Type="http://schemas.openxmlformats.org/officeDocument/2006/relationships/image" Target="../media/image8.png"/><Relationship Id="rId10" Type="http://schemas.openxmlformats.org/officeDocument/2006/relationships/image" Target="../media/image24.png"/><Relationship Id="rId4" Type="http://schemas.openxmlformats.org/officeDocument/2006/relationships/image" Target="../media/image5.svg"/><Relationship Id="rId9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5.svg"/><Relationship Id="rId9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30.png"/><Relationship Id="rId5" Type="http://schemas.openxmlformats.org/officeDocument/2006/relationships/image" Target="../media/image8.png"/><Relationship Id="rId10" Type="http://schemas.openxmlformats.org/officeDocument/2006/relationships/image" Target="../media/image29.png"/><Relationship Id="rId4" Type="http://schemas.openxmlformats.org/officeDocument/2006/relationships/image" Target="../media/image5.svg"/><Relationship Id="rId9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32.png"/><Relationship Id="rId5" Type="http://schemas.openxmlformats.org/officeDocument/2006/relationships/image" Target="../media/image8.png"/><Relationship Id="rId10" Type="http://schemas.openxmlformats.org/officeDocument/2006/relationships/image" Target="../media/image31.png"/><Relationship Id="rId4" Type="http://schemas.openxmlformats.org/officeDocument/2006/relationships/image" Target="../media/image5.svg"/><Relationship Id="rId9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3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3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13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69.png"/><Relationship Id="rId12" Type="http://schemas.openxmlformats.org/officeDocument/2006/relationships/image" Target="../media/image7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sv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svg"/><Relationship Id="rId4" Type="http://schemas.openxmlformats.org/officeDocument/2006/relationships/image" Target="../media/image3.svg"/><Relationship Id="rId9" Type="http://schemas.openxmlformats.org/officeDocument/2006/relationships/image" Target="../media/image71.png"/><Relationship Id="rId14" Type="http://schemas.openxmlformats.org/officeDocument/2006/relationships/image" Target="../media/image7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62.png"/><Relationship Id="rId4" Type="http://schemas.openxmlformats.org/officeDocument/2006/relationships/image" Target="../media/image3.svg"/><Relationship Id="rId9" Type="http://schemas.openxmlformats.org/officeDocument/2006/relationships/image" Target="../media/image7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143" y="5669263"/>
            <a:ext cx="5515839" cy="4974284"/>
          </a:xfrm>
          <a:custGeom>
            <a:avLst/>
            <a:gdLst/>
            <a:ahLst/>
            <a:cxnLst/>
            <a:rect l="l" t="t" r="r" b="b"/>
            <a:pathLst>
              <a:path w="5515839" h="4974284">
                <a:moveTo>
                  <a:pt x="0" y="0"/>
                </a:moveTo>
                <a:lnTo>
                  <a:pt x="5515839" y="0"/>
                </a:lnTo>
                <a:lnTo>
                  <a:pt x="5515839" y="4974284"/>
                </a:lnTo>
                <a:lnTo>
                  <a:pt x="0" y="497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744304" y="-356547"/>
            <a:ext cx="5515839" cy="4974284"/>
          </a:xfrm>
          <a:custGeom>
            <a:avLst/>
            <a:gdLst/>
            <a:ahLst/>
            <a:cxnLst/>
            <a:rect l="l" t="t" r="r" b="b"/>
            <a:pathLst>
              <a:path w="5515839" h="4974284">
                <a:moveTo>
                  <a:pt x="5515839" y="4974284"/>
                </a:moveTo>
                <a:lnTo>
                  <a:pt x="0" y="4974284"/>
                </a:lnTo>
                <a:lnTo>
                  <a:pt x="0" y="0"/>
                </a:lnTo>
                <a:lnTo>
                  <a:pt x="5515839" y="0"/>
                </a:lnTo>
                <a:lnTo>
                  <a:pt x="5515839" y="497428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53960" y="5502203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1"/>
                </a:moveTo>
                <a:lnTo>
                  <a:pt x="0" y="8044211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1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594827" y="677040"/>
            <a:ext cx="9098345" cy="8932920"/>
          </a:xfrm>
          <a:custGeom>
            <a:avLst/>
            <a:gdLst/>
            <a:ahLst/>
            <a:cxnLst/>
            <a:rect l="l" t="t" r="r" b="b"/>
            <a:pathLst>
              <a:path w="9098345" h="8932920">
                <a:moveTo>
                  <a:pt x="0" y="0"/>
                </a:moveTo>
                <a:lnTo>
                  <a:pt x="9098344" y="0"/>
                </a:lnTo>
                <a:lnTo>
                  <a:pt x="9098344" y="8932920"/>
                </a:lnTo>
                <a:lnTo>
                  <a:pt x="0" y="89329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-48687" y="3283238"/>
            <a:ext cx="15392399" cy="1746768"/>
            <a:chOff x="1794480" y="615102"/>
            <a:chExt cx="4934423" cy="958755"/>
          </a:xfrm>
        </p:grpSpPr>
        <p:sp>
          <p:nvSpPr>
            <p:cNvPr id="7" name="Freeform 7"/>
            <p:cNvSpPr/>
            <p:nvPr/>
          </p:nvSpPr>
          <p:spPr>
            <a:xfrm>
              <a:off x="2318405" y="615102"/>
              <a:ext cx="4410498" cy="406400"/>
            </a:xfrm>
            <a:custGeom>
              <a:avLst/>
              <a:gdLst/>
              <a:ahLst/>
              <a:cxnLst/>
              <a:rect l="l" t="t" r="r" b="b"/>
              <a:pathLst>
                <a:path w="4410498" h="406400">
                  <a:moveTo>
                    <a:pt x="4207298" y="0"/>
                  </a:moveTo>
                  <a:cubicBezTo>
                    <a:pt x="4319522" y="0"/>
                    <a:pt x="4410498" y="90976"/>
                    <a:pt x="4410498" y="203200"/>
                  </a:cubicBezTo>
                  <a:cubicBezTo>
                    <a:pt x="4410498" y="315424"/>
                    <a:pt x="4319522" y="406400"/>
                    <a:pt x="420729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66675" cap="sq">
              <a:gradFill>
                <a:gsLst>
                  <a:gs pos="0">
                    <a:srgbClr val="2A74B2">
                      <a:alpha val="100000"/>
                    </a:srgbClr>
                  </a:gs>
                  <a:gs pos="100000">
                    <a:srgbClr val="24468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94480" y="1129357"/>
              <a:ext cx="441049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16579400" y="8216638"/>
            <a:ext cx="848660" cy="1393322"/>
          </a:xfrm>
          <a:custGeom>
            <a:avLst/>
            <a:gdLst/>
            <a:ahLst/>
            <a:cxnLst/>
            <a:rect l="l" t="t" r="r" b="b"/>
            <a:pathLst>
              <a:path w="848660" h="1393322">
                <a:moveTo>
                  <a:pt x="0" y="0"/>
                </a:moveTo>
                <a:lnTo>
                  <a:pt x="848660" y="0"/>
                </a:lnTo>
                <a:lnTo>
                  <a:pt x="848660" y="1393322"/>
                </a:lnTo>
                <a:lnTo>
                  <a:pt x="0" y="13933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830921" y="-3259414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59940" y="677040"/>
            <a:ext cx="848660" cy="1393322"/>
          </a:xfrm>
          <a:custGeom>
            <a:avLst/>
            <a:gdLst/>
            <a:ahLst/>
            <a:cxnLst/>
            <a:rect l="l" t="t" r="r" b="b"/>
            <a:pathLst>
              <a:path w="848660" h="1393322">
                <a:moveTo>
                  <a:pt x="0" y="0"/>
                </a:moveTo>
                <a:lnTo>
                  <a:pt x="848660" y="0"/>
                </a:lnTo>
                <a:lnTo>
                  <a:pt x="848660" y="1393322"/>
                </a:lnTo>
                <a:lnTo>
                  <a:pt x="0" y="13933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7045969" y="6472505"/>
            <a:ext cx="590696" cy="969799"/>
          </a:xfrm>
          <a:custGeom>
            <a:avLst/>
            <a:gdLst/>
            <a:ahLst/>
            <a:cxnLst/>
            <a:rect l="l" t="t" r="r" b="b"/>
            <a:pathLst>
              <a:path w="590696" h="969799">
                <a:moveTo>
                  <a:pt x="590696" y="0"/>
                </a:moveTo>
                <a:lnTo>
                  <a:pt x="0" y="0"/>
                </a:lnTo>
                <a:lnTo>
                  <a:pt x="0" y="969799"/>
                </a:lnTo>
                <a:lnTo>
                  <a:pt x="590696" y="969799"/>
                </a:lnTo>
                <a:lnTo>
                  <a:pt x="590696" y="0"/>
                </a:lnTo>
                <a:close/>
              </a:path>
            </a:pathLst>
          </a:custGeom>
          <a:blipFill>
            <a:blip r:embed="rId7">
              <a:alphaModFix amt="7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651335" y="2844696"/>
            <a:ext cx="590696" cy="969799"/>
          </a:xfrm>
          <a:custGeom>
            <a:avLst/>
            <a:gdLst/>
            <a:ahLst/>
            <a:cxnLst/>
            <a:rect l="l" t="t" r="r" b="b"/>
            <a:pathLst>
              <a:path w="590696" h="969799">
                <a:moveTo>
                  <a:pt x="590696" y="0"/>
                </a:moveTo>
                <a:lnTo>
                  <a:pt x="0" y="0"/>
                </a:lnTo>
                <a:lnTo>
                  <a:pt x="0" y="969799"/>
                </a:lnTo>
                <a:lnTo>
                  <a:pt x="590696" y="969799"/>
                </a:lnTo>
                <a:lnTo>
                  <a:pt x="590696" y="0"/>
                </a:lnTo>
                <a:close/>
              </a:path>
            </a:pathLst>
          </a:custGeom>
          <a:blipFill>
            <a:blip r:embed="rId7">
              <a:alphaModFix amt="7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963338" y="4724988"/>
            <a:ext cx="12361324" cy="2387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07"/>
              </a:lnSpc>
            </a:pPr>
            <a:endParaRPr lang="en-US" sz="18255" b="1" spc="-511" dirty="0">
              <a:solidFill>
                <a:srgbClr val="FCFDFE"/>
              </a:solidFill>
              <a:latin typeface="TT Supermolot Neue Bold"/>
              <a:ea typeface="TT Supermolot Neue Bold"/>
              <a:cs typeface="TT Supermolot Neue Bold"/>
              <a:sym typeface="TT Supermolot Neue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05F7ED-419E-4738-A90C-5BC288843CF3}"/>
              </a:ext>
            </a:extLst>
          </p:cNvPr>
          <p:cNvSpPr txBox="1"/>
          <p:nvPr/>
        </p:nvSpPr>
        <p:spPr>
          <a:xfrm>
            <a:off x="7171642" y="5544435"/>
            <a:ext cx="8242837" cy="2148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      Team Members:</a:t>
            </a:r>
            <a:endParaRPr lang="en-US" sz="3000" dirty="0">
              <a:solidFill>
                <a:schemeClr val="bg1">
                  <a:lumMod val="9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Rahiq Khaled                              2. Tasneem Khaled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3.Aya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Elsaid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             4.Radwa Ahmed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       5. Aya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abdelshafy</a:t>
            </a:r>
            <a:endParaRPr lang="en-US" sz="3000" dirty="0">
              <a:solidFill>
                <a:schemeClr val="bg1">
                  <a:lumMod val="9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CBD67F87-9927-4865-8A4F-46AC206B14C5}"/>
              </a:ext>
            </a:extLst>
          </p:cNvPr>
          <p:cNvSpPr txBox="1"/>
          <p:nvPr/>
        </p:nvSpPr>
        <p:spPr>
          <a:xfrm>
            <a:off x="1867830" y="3170157"/>
            <a:ext cx="13546649" cy="725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3000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Intelligent Support Ticket Classification with Retrieval-Augmented Generation (RAG)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719778" y="5776248"/>
            <a:ext cx="5575939" cy="5028483"/>
          </a:xfrm>
          <a:custGeom>
            <a:avLst/>
            <a:gdLst/>
            <a:ahLst/>
            <a:cxnLst/>
            <a:rect l="l" t="t" r="r" b="b"/>
            <a:pathLst>
              <a:path w="5575939" h="5028483">
                <a:moveTo>
                  <a:pt x="5575939" y="0"/>
                </a:moveTo>
                <a:lnTo>
                  <a:pt x="0" y="0"/>
                </a:lnTo>
                <a:lnTo>
                  <a:pt x="0" y="5028483"/>
                </a:lnTo>
                <a:lnTo>
                  <a:pt x="5575939" y="5028483"/>
                </a:lnTo>
                <a:lnTo>
                  <a:pt x="557593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369944" y="-3592602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1"/>
                </a:moveTo>
                <a:lnTo>
                  <a:pt x="0" y="8044211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1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1076210" y="1996511"/>
            <a:ext cx="6587468" cy="658746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3328538" y="-3206975"/>
            <a:ext cx="8628228" cy="8471351"/>
          </a:xfrm>
          <a:custGeom>
            <a:avLst/>
            <a:gdLst/>
            <a:ahLst/>
            <a:cxnLst/>
            <a:rect l="l" t="t" r="r" b="b"/>
            <a:pathLst>
              <a:path w="8628228" h="8471351">
                <a:moveTo>
                  <a:pt x="0" y="0"/>
                </a:moveTo>
                <a:lnTo>
                  <a:pt x="8628228" y="0"/>
                </a:lnTo>
                <a:lnTo>
                  <a:pt x="8628228" y="8471350"/>
                </a:lnTo>
                <a:lnTo>
                  <a:pt x="0" y="84713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-722606" y="-142115"/>
            <a:ext cx="4247440" cy="3969426"/>
          </a:xfrm>
          <a:custGeom>
            <a:avLst/>
            <a:gdLst/>
            <a:ahLst/>
            <a:cxnLst/>
            <a:rect l="l" t="t" r="r" b="b"/>
            <a:pathLst>
              <a:path w="4247440" h="3969426">
                <a:moveTo>
                  <a:pt x="0" y="3969426"/>
                </a:moveTo>
                <a:lnTo>
                  <a:pt x="4247440" y="3969426"/>
                </a:lnTo>
                <a:lnTo>
                  <a:pt x="4247440" y="0"/>
                </a:lnTo>
                <a:lnTo>
                  <a:pt x="0" y="0"/>
                </a:lnTo>
                <a:lnTo>
                  <a:pt x="0" y="3969426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200400" y="2276671"/>
            <a:ext cx="7398784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Project Overview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1892" y="4052234"/>
            <a:ext cx="10124318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This project aims to automate customer support using Artificial Intelligence.</a:t>
            </a:r>
          </a:p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The system: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Classifies incoming support tickets.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Predicts the ticket's type, queue, and priority.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Retrieves similar historical tickets using semantic search.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Generates context-aware responses using Retrieval-Augmented Generation (RAG).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Provides a web application for customers and administrators.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700348" y="210509"/>
            <a:ext cx="848660" cy="1393322"/>
          </a:xfrm>
          <a:custGeom>
            <a:avLst/>
            <a:gdLst/>
            <a:ahLst/>
            <a:cxnLst/>
            <a:rect l="l" t="t" r="r" b="b"/>
            <a:pathLst>
              <a:path w="848660" h="1393322">
                <a:moveTo>
                  <a:pt x="0" y="0"/>
                </a:moveTo>
                <a:lnTo>
                  <a:pt x="848660" y="0"/>
                </a:lnTo>
                <a:lnTo>
                  <a:pt x="848660" y="1393323"/>
                </a:lnTo>
                <a:lnTo>
                  <a:pt x="0" y="13933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34871" y="8678429"/>
            <a:ext cx="587659" cy="964813"/>
          </a:xfrm>
          <a:custGeom>
            <a:avLst/>
            <a:gdLst/>
            <a:ahLst/>
            <a:cxnLst/>
            <a:rect l="l" t="t" r="r" b="b"/>
            <a:pathLst>
              <a:path w="587659" h="964813">
                <a:moveTo>
                  <a:pt x="0" y="0"/>
                </a:moveTo>
                <a:lnTo>
                  <a:pt x="587658" y="0"/>
                </a:lnTo>
                <a:lnTo>
                  <a:pt x="587658" y="964813"/>
                </a:lnTo>
                <a:lnTo>
                  <a:pt x="0" y="9648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DD8818-DC07-4CFA-AE2D-706926B602E9}"/>
              </a:ext>
            </a:extLst>
          </p:cNvPr>
          <p:cNvSpPr txBox="1"/>
          <p:nvPr/>
        </p:nvSpPr>
        <p:spPr>
          <a:xfrm>
            <a:off x="13115062" y="2104757"/>
            <a:ext cx="317057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Client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Ticket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Azure ML Classifier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Predicted Labels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SBERT Embedding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Azure AI Search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Retrieve Similar Tickets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↓</a:t>
            </a:r>
          </a:p>
          <a:p>
            <a:r>
              <a:rPr lang="en-US" sz="2400" dirty="0">
                <a:solidFill>
                  <a:schemeClr val="bg1"/>
                </a:solidFill>
              </a:rPr>
              <a:t>Qwen2.5-7B-Instruct. 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Generated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551680" y="-142115"/>
            <a:ext cx="4555478" cy="4257301"/>
          </a:xfrm>
          <a:custGeom>
            <a:avLst/>
            <a:gdLst/>
            <a:ahLst/>
            <a:cxnLst/>
            <a:rect l="l" t="t" r="r" b="b"/>
            <a:pathLst>
              <a:path w="4555478" h="4257301">
                <a:moveTo>
                  <a:pt x="0" y="4257301"/>
                </a:moveTo>
                <a:lnTo>
                  <a:pt x="4555478" y="4257301"/>
                </a:lnTo>
                <a:lnTo>
                  <a:pt x="4555478" y="0"/>
                </a:lnTo>
                <a:lnTo>
                  <a:pt x="0" y="0"/>
                </a:lnTo>
                <a:lnTo>
                  <a:pt x="0" y="425730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284202" y="-142115"/>
            <a:ext cx="4555478" cy="4257301"/>
          </a:xfrm>
          <a:custGeom>
            <a:avLst/>
            <a:gdLst/>
            <a:ahLst/>
            <a:cxnLst/>
            <a:rect l="l" t="t" r="r" b="b"/>
            <a:pathLst>
              <a:path w="4555478" h="4257301">
                <a:moveTo>
                  <a:pt x="4555478" y="4257301"/>
                </a:moveTo>
                <a:lnTo>
                  <a:pt x="0" y="4257301"/>
                </a:lnTo>
                <a:lnTo>
                  <a:pt x="0" y="0"/>
                </a:lnTo>
                <a:lnTo>
                  <a:pt x="4555478" y="0"/>
                </a:lnTo>
                <a:lnTo>
                  <a:pt x="4555478" y="425730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50445" y="6822087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55641" y="6822087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84481" y="3645400"/>
            <a:ext cx="1658168" cy="165816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568848" y="3613592"/>
            <a:ext cx="1658168" cy="165816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96489" y="6851855"/>
            <a:ext cx="1658168" cy="165816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90436" y="3743136"/>
            <a:ext cx="1658168" cy="165816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443814" y="3854472"/>
            <a:ext cx="939500" cy="1162298"/>
          </a:xfrm>
          <a:custGeom>
            <a:avLst/>
            <a:gdLst/>
            <a:ahLst/>
            <a:cxnLst/>
            <a:rect l="l" t="t" r="r" b="b"/>
            <a:pathLst>
              <a:path w="939500" h="1162298">
                <a:moveTo>
                  <a:pt x="0" y="0"/>
                </a:moveTo>
                <a:lnTo>
                  <a:pt x="939500" y="0"/>
                </a:lnTo>
                <a:lnTo>
                  <a:pt x="939500" y="1162298"/>
                </a:lnTo>
                <a:lnTo>
                  <a:pt x="0" y="11622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960291" y="3971810"/>
            <a:ext cx="902058" cy="902058"/>
          </a:xfrm>
          <a:custGeom>
            <a:avLst/>
            <a:gdLst/>
            <a:ahLst/>
            <a:cxnLst/>
            <a:rect l="l" t="t" r="r" b="b"/>
            <a:pathLst>
              <a:path w="902058" h="902058">
                <a:moveTo>
                  <a:pt x="0" y="0"/>
                </a:moveTo>
                <a:lnTo>
                  <a:pt x="902058" y="0"/>
                </a:lnTo>
                <a:lnTo>
                  <a:pt x="902058" y="902058"/>
                </a:lnTo>
                <a:lnTo>
                  <a:pt x="0" y="9020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818128" y="7156470"/>
            <a:ext cx="1101852" cy="1113590"/>
          </a:xfrm>
          <a:custGeom>
            <a:avLst/>
            <a:gdLst/>
            <a:ahLst/>
            <a:cxnLst/>
            <a:rect l="l" t="t" r="r" b="b"/>
            <a:pathLst>
              <a:path w="1101852" h="1113590">
                <a:moveTo>
                  <a:pt x="0" y="0"/>
                </a:moveTo>
                <a:lnTo>
                  <a:pt x="1101852" y="0"/>
                </a:lnTo>
                <a:lnTo>
                  <a:pt x="1101852" y="1113590"/>
                </a:lnTo>
                <a:lnTo>
                  <a:pt x="0" y="11135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154657" y="4082328"/>
            <a:ext cx="902058" cy="902058"/>
          </a:xfrm>
          <a:custGeom>
            <a:avLst/>
            <a:gdLst/>
            <a:ahLst/>
            <a:cxnLst/>
            <a:rect l="l" t="t" r="r" b="b"/>
            <a:pathLst>
              <a:path w="902058" h="902058">
                <a:moveTo>
                  <a:pt x="0" y="0"/>
                </a:moveTo>
                <a:lnTo>
                  <a:pt x="902058" y="0"/>
                </a:lnTo>
                <a:lnTo>
                  <a:pt x="902058" y="902058"/>
                </a:lnTo>
                <a:lnTo>
                  <a:pt x="0" y="9020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814322" y="1307567"/>
            <a:ext cx="6659355" cy="871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Project objectives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3169" y="5716057"/>
            <a:ext cx="3879759" cy="669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TT Supermolot Neue Bold" panose="020B0604020202020204" charset="0"/>
              </a:rPr>
              <a:t>Preprocess customer support data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TT Supermolot Neue Bold" panose="020B0604020202020204" charset="0"/>
              <a:ea typeface="TT Supermolot Neue"/>
              <a:cs typeface="TT Supermolot Neue"/>
              <a:sym typeface="TT Supermolot Neue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387832" y="5671686"/>
            <a:ext cx="4065998" cy="757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0"/>
              </a:lnSpc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TT Supermolot Neue Bold" panose="020B0604020202020204" charset="0"/>
              </a:rPr>
              <a:t>Train ticket classification models</a:t>
            </a:r>
            <a:endParaRPr lang="en-US" sz="3000" b="1" dirty="0">
              <a:solidFill>
                <a:schemeClr val="bg1">
                  <a:lumMod val="95000"/>
                </a:schemeClr>
              </a:solidFill>
              <a:latin typeface="TT Supermolot Neue Bold" panose="020B0604020202020204" charset="0"/>
              <a:ea typeface="TT Supermolot Neue Bold"/>
              <a:cs typeface="TT Supermolot Neue Bold"/>
              <a:sym typeface="TT Supermolot Neu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286455" y="5839785"/>
            <a:ext cx="2590800" cy="758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0"/>
              </a:lnSpc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TT Supermolot Neue Bold" panose="020B0604020202020204" charset="0"/>
              </a:rPr>
              <a:t>Build a RAG pipeline</a:t>
            </a:r>
            <a:endParaRPr lang="en-US" sz="3000" b="1" dirty="0">
              <a:solidFill>
                <a:schemeClr val="bg1">
                  <a:lumMod val="95000"/>
                </a:schemeClr>
              </a:solidFill>
              <a:latin typeface="TT Supermolot Neue Bold" panose="020B0604020202020204" charset="0"/>
              <a:ea typeface="TT Supermolot Neue Bold"/>
              <a:cs typeface="TT Supermolot Neue Bold"/>
              <a:sym typeface="TT Supermolot Neue Bold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643213" y="7114963"/>
            <a:ext cx="546826" cy="897775"/>
          </a:xfrm>
          <a:custGeom>
            <a:avLst/>
            <a:gdLst/>
            <a:ahLst/>
            <a:cxnLst/>
            <a:rect l="l" t="t" r="r" b="b"/>
            <a:pathLst>
              <a:path w="546826" h="897775">
                <a:moveTo>
                  <a:pt x="0" y="0"/>
                </a:moveTo>
                <a:lnTo>
                  <a:pt x="546827" y="0"/>
                </a:lnTo>
                <a:lnTo>
                  <a:pt x="546827" y="897774"/>
                </a:lnTo>
                <a:lnTo>
                  <a:pt x="0" y="8977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6873391" y="4617949"/>
            <a:ext cx="771818" cy="1267163"/>
          </a:xfrm>
          <a:custGeom>
            <a:avLst/>
            <a:gdLst/>
            <a:ahLst/>
            <a:cxnLst/>
            <a:rect l="l" t="t" r="r" b="b"/>
            <a:pathLst>
              <a:path w="771818" h="1267163">
                <a:moveTo>
                  <a:pt x="0" y="0"/>
                </a:moveTo>
                <a:lnTo>
                  <a:pt x="771818" y="0"/>
                </a:lnTo>
                <a:lnTo>
                  <a:pt x="771818" y="1267163"/>
                </a:lnTo>
                <a:lnTo>
                  <a:pt x="0" y="12671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FAD0AC-C740-475D-8C7A-17E2E61ABCAB}"/>
              </a:ext>
            </a:extLst>
          </p:cNvPr>
          <p:cNvSpPr txBox="1"/>
          <p:nvPr/>
        </p:nvSpPr>
        <p:spPr>
          <a:xfrm>
            <a:off x="2848816" y="2280116"/>
            <a:ext cx="132477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Develop an intelligent AI-powered customer support system that automates ticket processing from submission to response generation.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73654C4-AABD-482B-BC4E-7FCB82A0A42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15452" y="6812019"/>
            <a:ext cx="1761897" cy="176189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D866313-A03E-43CB-B899-9C24A2C867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1742" y="6868268"/>
            <a:ext cx="1761897" cy="1761897"/>
          </a:xfrm>
          <a:prstGeom prst="rect">
            <a:avLst/>
          </a:prstGeom>
        </p:spPr>
      </p:pic>
      <p:sp>
        <p:nvSpPr>
          <p:cNvPr id="37" name="Freeform 22">
            <a:extLst>
              <a:ext uri="{FF2B5EF4-FFF2-40B4-BE49-F238E27FC236}">
                <a16:creationId xmlns:a16="http://schemas.microsoft.com/office/drawing/2014/main" id="{136E3EDD-A8F7-4629-9E12-2BB93BF98988}"/>
              </a:ext>
            </a:extLst>
          </p:cNvPr>
          <p:cNvSpPr/>
          <p:nvPr/>
        </p:nvSpPr>
        <p:spPr>
          <a:xfrm>
            <a:off x="5321672" y="7164466"/>
            <a:ext cx="745687" cy="981167"/>
          </a:xfrm>
          <a:custGeom>
            <a:avLst/>
            <a:gdLst/>
            <a:ahLst/>
            <a:cxnLst/>
            <a:rect l="l" t="t" r="r" b="b"/>
            <a:pathLst>
              <a:path w="745687" h="981167">
                <a:moveTo>
                  <a:pt x="0" y="0"/>
                </a:moveTo>
                <a:lnTo>
                  <a:pt x="745687" y="0"/>
                </a:lnTo>
                <a:lnTo>
                  <a:pt x="745687" y="981167"/>
                </a:lnTo>
                <a:lnTo>
                  <a:pt x="0" y="98116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1F77484-99AC-41A0-8D58-C8064E6347B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00906" y="3792518"/>
            <a:ext cx="1761897" cy="1761897"/>
          </a:xfrm>
          <a:prstGeom prst="rect">
            <a:avLst/>
          </a:prstGeom>
        </p:spPr>
      </p:pic>
      <p:sp>
        <p:nvSpPr>
          <p:cNvPr id="39" name="Freeform 20">
            <a:extLst>
              <a:ext uri="{FF2B5EF4-FFF2-40B4-BE49-F238E27FC236}">
                <a16:creationId xmlns:a16="http://schemas.microsoft.com/office/drawing/2014/main" id="{EBBB158F-0187-471E-81C2-36BE31F4E0BA}"/>
              </a:ext>
            </a:extLst>
          </p:cNvPr>
          <p:cNvSpPr/>
          <p:nvPr/>
        </p:nvSpPr>
        <p:spPr>
          <a:xfrm>
            <a:off x="10108756" y="4115186"/>
            <a:ext cx="923909" cy="1026349"/>
          </a:xfrm>
          <a:custGeom>
            <a:avLst/>
            <a:gdLst/>
            <a:ahLst/>
            <a:cxnLst/>
            <a:rect l="l" t="t" r="r" b="b"/>
            <a:pathLst>
              <a:path w="923909" h="1026349">
                <a:moveTo>
                  <a:pt x="0" y="0"/>
                </a:moveTo>
                <a:lnTo>
                  <a:pt x="923908" y="0"/>
                </a:lnTo>
                <a:lnTo>
                  <a:pt x="923908" y="1026349"/>
                </a:lnTo>
                <a:lnTo>
                  <a:pt x="0" y="10263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18">
            <a:extLst>
              <a:ext uri="{FF2B5EF4-FFF2-40B4-BE49-F238E27FC236}">
                <a16:creationId xmlns:a16="http://schemas.microsoft.com/office/drawing/2014/main" id="{899575CB-11C1-4FBB-98E0-6AC779DB3301}"/>
              </a:ext>
            </a:extLst>
          </p:cNvPr>
          <p:cNvSpPr/>
          <p:nvPr/>
        </p:nvSpPr>
        <p:spPr>
          <a:xfrm>
            <a:off x="9009792" y="7148193"/>
            <a:ext cx="939500" cy="1162298"/>
          </a:xfrm>
          <a:custGeom>
            <a:avLst/>
            <a:gdLst/>
            <a:ahLst/>
            <a:cxnLst/>
            <a:rect l="l" t="t" r="r" b="b"/>
            <a:pathLst>
              <a:path w="939500" h="1162298">
                <a:moveTo>
                  <a:pt x="0" y="0"/>
                </a:moveTo>
                <a:lnTo>
                  <a:pt x="939500" y="0"/>
                </a:lnTo>
                <a:lnTo>
                  <a:pt x="939500" y="1162298"/>
                </a:lnTo>
                <a:lnTo>
                  <a:pt x="0" y="11622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82F602-92DB-4602-A680-9594143E5C30}"/>
              </a:ext>
            </a:extLst>
          </p:cNvPr>
          <p:cNvSpPr txBox="1"/>
          <p:nvPr/>
        </p:nvSpPr>
        <p:spPr>
          <a:xfrm>
            <a:off x="11710651" y="8782591"/>
            <a:ext cx="37786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TT Supermolot Neue Bold" panose="020B0604020202020204" charset="0"/>
              </a:rPr>
              <a:t>Build client &amp; admin web interfaces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78F7AB-AC66-48BB-8F1E-44F2FB35E84F}"/>
              </a:ext>
            </a:extLst>
          </p:cNvPr>
          <p:cNvSpPr txBox="1"/>
          <p:nvPr/>
        </p:nvSpPr>
        <p:spPr>
          <a:xfrm>
            <a:off x="12818128" y="5674070"/>
            <a:ext cx="365034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TT Supermolot Neue Bold" panose="020B0604020202020204" charset="0"/>
              </a:rPr>
              <a:t>Deploy using Azure ML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261C6B-6B1D-424B-992E-9C1903E17D4B}"/>
              </a:ext>
            </a:extLst>
          </p:cNvPr>
          <p:cNvSpPr txBox="1"/>
          <p:nvPr/>
        </p:nvSpPr>
        <p:spPr>
          <a:xfrm>
            <a:off x="4169507" y="8783809"/>
            <a:ext cx="3124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TT Supermolot Neue Bold" panose="020B0604020202020204" charset="0"/>
              </a:rPr>
              <a:t>Integrate Azure AI Search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E1515B-A68D-440B-BACC-EFC84EE75AAF}"/>
              </a:ext>
            </a:extLst>
          </p:cNvPr>
          <p:cNvSpPr txBox="1"/>
          <p:nvPr/>
        </p:nvSpPr>
        <p:spPr>
          <a:xfrm>
            <a:off x="7872844" y="8778167"/>
            <a:ext cx="33722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T Supermolot Neue Bold" panose="020B0604020202020204" charset="0"/>
              </a:rPr>
              <a:t>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TT Supermolot Neue Bold" panose="020B0604020202020204" charset="0"/>
              </a:rPr>
              <a:t>Develop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TT Supermolot Neue Bold" panose="020B0604020202020204" charset="0"/>
              </a:rPr>
              <a:t>FastAPI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TT Supermolot Neue Bold" panose="020B0604020202020204" charset="0"/>
              </a:rPr>
              <a:t>     backend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10540" y="5817344"/>
            <a:ext cx="5575939" cy="5028483"/>
          </a:xfrm>
          <a:custGeom>
            <a:avLst/>
            <a:gdLst/>
            <a:ahLst/>
            <a:cxnLst/>
            <a:rect l="l" t="t" r="r" b="b"/>
            <a:pathLst>
              <a:path w="5575939" h="5028483">
                <a:moveTo>
                  <a:pt x="0" y="0"/>
                </a:moveTo>
                <a:lnTo>
                  <a:pt x="5575939" y="0"/>
                </a:lnTo>
                <a:lnTo>
                  <a:pt x="5575939" y="5028483"/>
                </a:lnTo>
                <a:lnTo>
                  <a:pt x="0" y="502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315200" y="7799564"/>
            <a:ext cx="2644806" cy="860554"/>
            <a:chOff x="0" y="0"/>
            <a:chExt cx="7131932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31932" cy="812800"/>
            </a:xfrm>
            <a:custGeom>
              <a:avLst/>
              <a:gdLst/>
              <a:ahLst/>
              <a:cxnLst/>
              <a:rect l="l" t="t" r="r" b="b"/>
              <a:pathLst>
                <a:path w="7131932" h="812800">
                  <a:moveTo>
                    <a:pt x="6893807" y="0"/>
                  </a:moveTo>
                  <a:lnTo>
                    <a:pt x="7131932" y="238125"/>
                  </a:lnTo>
                  <a:lnTo>
                    <a:pt x="7131932" y="574675"/>
                  </a:lnTo>
                  <a:lnTo>
                    <a:pt x="6893807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6893807" y="0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2A74B2">
                      <a:alpha val="100000"/>
                    </a:srgbClr>
                  </a:gs>
                  <a:gs pos="100000">
                    <a:srgbClr val="24468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3500" y="25400"/>
              <a:ext cx="7004932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308728" y="-3206975"/>
            <a:ext cx="8628228" cy="8471351"/>
          </a:xfrm>
          <a:custGeom>
            <a:avLst/>
            <a:gdLst/>
            <a:ahLst/>
            <a:cxnLst/>
            <a:rect l="l" t="t" r="r" b="b"/>
            <a:pathLst>
              <a:path w="8628228" h="8471351">
                <a:moveTo>
                  <a:pt x="0" y="0"/>
                </a:moveTo>
                <a:lnTo>
                  <a:pt x="8628228" y="0"/>
                </a:lnTo>
                <a:lnTo>
                  <a:pt x="8628228" y="8471350"/>
                </a:lnTo>
                <a:lnTo>
                  <a:pt x="0" y="847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4551330" y="-142115"/>
            <a:ext cx="4555478" cy="4257301"/>
          </a:xfrm>
          <a:custGeom>
            <a:avLst/>
            <a:gdLst/>
            <a:ahLst/>
            <a:cxnLst/>
            <a:rect l="l" t="t" r="r" b="b"/>
            <a:pathLst>
              <a:path w="4555478" h="4257301">
                <a:moveTo>
                  <a:pt x="4555478" y="4257301"/>
                </a:moveTo>
                <a:lnTo>
                  <a:pt x="0" y="4257301"/>
                </a:lnTo>
                <a:lnTo>
                  <a:pt x="0" y="0"/>
                </a:lnTo>
                <a:lnTo>
                  <a:pt x="4555478" y="0"/>
                </a:lnTo>
                <a:lnTo>
                  <a:pt x="4555478" y="4257301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V="1">
            <a:off x="-2544676" y="-8348019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8044211"/>
                </a:moveTo>
                <a:lnTo>
                  <a:pt x="5864961" y="8044211"/>
                </a:lnTo>
                <a:lnTo>
                  <a:pt x="5864961" y="0"/>
                </a:lnTo>
                <a:lnTo>
                  <a:pt x="0" y="0"/>
                </a:lnTo>
                <a:lnTo>
                  <a:pt x="0" y="8044211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4551330" y="5940634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0"/>
                </a:moveTo>
                <a:lnTo>
                  <a:pt x="0" y="0"/>
                </a:lnTo>
                <a:lnTo>
                  <a:pt x="0" y="8044211"/>
                </a:lnTo>
                <a:lnTo>
                  <a:pt x="5864961" y="8044211"/>
                </a:lnTo>
                <a:lnTo>
                  <a:pt x="5864961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867471" y="1035858"/>
            <a:ext cx="2849140" cy="871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Dataset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65673" y="2818006"/>
            <a:ext cx="10506471" cy="3867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Content: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28,587 support tickets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16 original features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2 languages (English &amp; German)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4 ticket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10 support queues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3 priority levels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FFFFFF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898230" y="7966633"/>
            <a:ext cx="4599400" cy="526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b="1" spc="-11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Note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85275" y="549043"/>
            <a:ext cx="584309" cy="959313"/>
          </a:xfrm>
          <a:custGeom>
            <a:avLst/>
            <a:gdLst/>
            <a:ahLst/>
            <a:cxnLst/>
            <a:rect l="l" t="t" r="r" b="b"/>
            <a:pathLst>
              <a:path w="584309" h="959313">
                <a:moveTo>
                  <a:pt x="0" y="0"/>
                </a:moveTo>
                <a:lnTo>
                  <a:pt x="584309" y="0"/>
                </a:lnTo>
                <a:lnTo>
                  <a:pt x="584309" y="959314"/>
                </a:lnTo>
                <a:lnTo>
                  <a:pt x="0" y="959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694394" y="7129886"/>
            <a:ext cx="787365" cy="1292688"/>
          </a:xfrm>
          <a:custGeom>
            <a:avLst/>
            <a:gdLst/>
            <a:ahLst/>
            <a:cxnLst/>
            <a:rect l="l" t="t" r="r" b="b"/>
            <a:pathLst>
              <a:path w="787365" h="1292688">
                <a:moveTo>
                  <a:pt x="0" y="0"/>
                </a:moveTo>
                <a:lnTo>
                  <a:pt x="787365" y="0"/>
                </a:lnTo>
                <a:lnTo>
                  <a:pt x="787365" y="1292689"/>
                </a:lnTo>
                <a:lnTo>
                  <a:pt x="0" y="1292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B2116D-4737-4BE7-A4CC-3E1B42D7E7C0}"/>
              </a:ext>
            </a:extLst>
          </p:cNvPr>
          <p:cNvSpPr txBox="1"/>
          <p:nvPr/>
        </p:nvSpPr>
        <p:spPr>
          <a:xfrm>
            <a:off x="7838526" y="8876918"/>
            <a:ext cx="9318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Only English tickets were retained for model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10540" y="5817344"/>
            <a:ext cx="5575939" cy="5028483"/>
          </a:xfrm>
          <a:custGeom>
            <a:avLst/>
            <a:gdLst/>
            <a:ahLst/>
            <a:cxnLst/>
            <a:rect l="l" t="t" r="r" b="b"/>
            <a:pathLst>
              <a:path w="5575939" h="5028483">
                <a:moveTo>
                  <a:pt x="0" y="0"/>
                </a:moveTo>
                <a:lnTo>
                  <a:pt x="5575939" y="0"/>
                </a:lnTo>
                <a:lnTo>
                  <a:pt x="5575939" y="5028483"/>
                </a:lnTo>
                <a:lnTo>
                  <a:pt x="0" y="502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308728" y="-3206975"/>
            <a:ext cx="8628228" cy="8471351"/>
          </a:xfrm>
          <a:custGeom>
            <a:avLst/>
            <a:gdLst/>
            <a:ahLst/>
            <a:cxnLst/>
            <a:rect l="l" t="t" r="r" b="b"/>
            <a:pathLst>
              <a:path w="8628228" h="8471351">
                <a:moveTo>
                  <a:pt x="0" y="0"/>
                </a:moveTo>
                <a:lnTo>
                  <a:pt x="8628228" y="0"/>
                </a:lnTo>
                <a:lnTo>
                  <a:pt x="8628228" y="8471350"/>
                </a:lnTo>
                <a:lnTo>
                  <a:pt x="0" y="847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4551330" y="-142115"/>
            <a:ext cx="4555478" cy="4257301"/>
          </a:xfrm>
          <a:custGeom>
            <a:avLst/>
            <a:gdLst/>
            <a:ahLst/>
            <a:cxnLst/>
            <a:rect l="l" t="t" r="r" b="b"/>
            <a:pathLst>
              <a:path w="4555478" h="4257301">
                <a:moveTo>
                  <a:pt x="4555478" y="4257301"/>
                </a:moveTo>
                <a:lnTo>
                  <a:pt x="0" y="4257301"/>
                </a:lnTo>
                <a:lnTo>
                  <a:pt x="0" y="0"/>
                </a:lnTo>
                <a:lnTo>
                  <a:pt x="4555478" y="0"/>
                </a:lnTo>
                <a:lnTo>
                  <a:pt x="4555478" y="4257301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V="1">
            <a:off x="-2544676" y="-8348019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8044211"/>
                </a:moveTo>
                <a:lnTo>
                  <a:pt x="5864961" y="8044211"/>
                </a:lnTo>
                <a:lnTo>
                  <a:pt x="5864961" y="0"/>
                </a:lnTo>
                <a:lnTo>
                  <a:pt x="0" y="0"/>
                </a:lnTo>
                <a:lnTo>
                  <a:pt x="0" y="8044211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4551330" y="5940634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0"/>
                </a:moveTo>
                <a:lnTo>
                  <a:pt x="0" y="0"/>
                </a:lnTo>
                <a:lnTo>
                  <a:pt x="0" y="8044211"/>
                </a:lnTo>
                <a:lnTo>
                  <a:pt x="5864961" y="8044211"/>
                </a:lnTo>
                <a:lnTo>
                  <a:pt x="5864961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715000" y="604031"/>
            <a:ext cx="6377570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Figures: EDA raw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85275" y="549043"/>
            <a:ext cx="584309" cy="959313"/>
          </a:xfrm>
          <a:custGeom>
            <a:avLst/>
            <a:gdLst/>
            <a:ahLst/>
            <a:cxnLst/>
            <a:rect l="l" t="t" r="r" b="b"/>
            <a:pathLst>
              <a:path w="584309" h="959313">
                <a:moveTo>
                  <a:pt x="0" y="0"/>
                </a:moveTo>
                <a:lnTo>
                  <a:pt x="584309" y="0"/>
                </a:lnTo>
                <a:lnTo>
                  <a:pt x="584309" y="959314"/>
                </a:lnTo>
                <a:lnTo>
                  <a:pt x="0" y="959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694394" y="7129886"/>
            <a:ext cx="787365" cy="1292688"/>
          </a:xfrm>
          <a:custGeom>
            <a:avLst/>
            <a:gdLst/>
            <a:ahLst/>
            <a:cxnLst/>
            <a:rect l="l" t="t" r="r" b="b"/>
            <a:pathLst>
              <a:path w="787365" h="1292688">
                <a:moveTo>
                  <a:pt x="0" y="0"/>
                </a:moveTo>
                <a:lnTo>
                  <a:pt x="787365" y="0"/>
                </a:lnTo>
                <a:lnTo>
                  <a:pt x="787365" y="1292689"/>
                </a:lnTo>
                <a:lnTo>
                  <a:pt x="0" y="1292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6CF979-48FB-4954-966F-40E50DA441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546" y="1986535"/>
            <a:ext cx="6223716" cy="43748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B79AE8-0431-40C1-AAE8-9DF28A7CD8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600" y="4115186"/>
            <a:ext cx="6965854" cy="497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93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10540" y="5817344"/>
            <a:ext cx="5575939" cy="5028483"/>
          </a:xfrm>
          <a:custGeom>
            <a:avLst/>
            <a:gdLst/>
            <a:ahLst/>
            <a:cxnLst/>
            <a:rect l="l" t="t" r="r" b="b"/>
            <a:pathLst>
              <a:path w="5575939" h="5028483">
                <a:moveTo>
                  <a:pt x="0" y="0"/>
                </a:moveTo>
                <a:lnTo>
                  <a:pt x="5575939" y="0"/>
                </a:lnTo>
                <a:lnTo>
                  <a:pt x="5575939" y="5028483"/>
                </a:lnTo>
                <a:lnTo>
                  <a:pt x="0" y="502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308728" y="-3206975"/>
            <a:ext cx="8628228" cy="8471351"/>
          </a:xfrm>
          <a:custGeom>
            <a:avLst/>
            <a:gdLst/>
            <a:ahLst/>
            <a:cxnLst/>
            <a:rect l="l" t="t" r="r" b="b"/>
            <a:pathLst>
              <a:path w="8628228" h="8471351">
                <a:moveTo>
                  <a:pt x="0" y="0"/>
                </a:moveTo>
                <a:lnTo>
                  <a:pt x="8628228" y="0"/>
                </a:lnTo>
                <a:lnTo>
                  <a:pt x="8628228" y="8471350"/>
                </a:lnTo>
                <a:lnTo>
                  <a:pt x="0" y="847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4551330" y="-142115"/>
            <a:ext cx="4555478" cy="4257301"/>
          </a:xfrm>
          <a:custGeom>
            <a:avLst/>
            <a:gdLst/>
            <a:ahLst/>
            <a:cxnLst/>
            <a:rect l="l" t="t" r="r" b="b"/>
            <a:pathLst>
              <a:path w="4555478" h="4257301">
                <a:moveTo>
                  <a:pt x="4555478" y="4257301"/>
                </a:moveTo>
                <a:lnTo>
                  <a:pt x="0" y="4257301"/>
                </a:lnTo>
                <a:lnTo>
                  <a:pt x="0" y="0"/>
                </a:lnTo>
                <a:lnTo>
                  <a:pt x="4555478" y="0"/>
                </a:lnTo>
                <a:lnTo>
                  <a:pt x="4555478" y="4257301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V="1">
            <a:off x="-2544676" y="-8348019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8044211"/>
                </a:moveTo>
                <a:lnTo>
                  <a:pt x="5864961" y="8044211"/>
                </a:lnTo>
                <a:lnTo>
                  <a:pt x="5864961" y="0"/>
                </a:lnTo>
                <a:lnTo>
                  <a:pt x="0" y="0"/>
                </a:lnTo>
                <a:lnTo>
                  <a:pt x="0" y="8044211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4551330" y="5940634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0"/>
                </a:moveTo>
                <a:lnTo>
                  <a:pt x="0" y="0"/>
                </a:lnTo>
                <a:lnTo>
                  <a:pt x="0" y="8044211"/>
                </a:lnTo>
                <a:lnTo>
                  <a:pt x="5864961" y="8044211"/>
                </a:lnTo>
                <a:lnTo>
                  <a:pt x="5864961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715000" y="604031"/>
            <a:ext cx="6377570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Figures: EDA raw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85275" y="549043"/>
            <a:ext cx="584309" cy="959313"/>
          </a:xfrm>
          <a:custGeom>
            <a:avLst/>
            <a:gdLst/>
            <a:ahLst/>
            <a:cxnLst/>
            <a:rect l="l" t="t" r="r" b="b"/>
            <a:pathLst>
              <a:path w="584309" h="959313">
                <a:moveTo>
                  <a:pt x="0" y="0"/>
                </a:moveTo>
                <a:lnTo>
                  <a:pt x="584309" y="0"/>
                </a:lnTo>
                <a:lnTo>
                  <a:pt x="584309" y="959314"/>
                </a:lnTo>
                <a:lnTo>
                  <a:pt x="0" y="959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694394" y="7129886"/>
            <a:ext cx="787365" cy="1292688"/>
          </a:xfrm>
          <a:custGeom>
            <a:avLst/>
            <a:gdLst/>
            <a:ahLst/>
            <a:cxnLst/>
            <a:rect l="l" t="t" r="r" b="b"/>
            <a:pathLst>
              <a:path w="787365" h="1292688">
                <a:moveTo>
                  <a:pt x="0" y="0"/>
                </a:moveTo>
                <a:lnTo>
                  <a:pt x="787365" y="0"/>
                </a:lnTo>
                <a:lnTo>
                  <a:pt x="787365" y="1292689"/>
                </a:lnTo>
                <a:lnTo>
                  <a:pt x="0" y="1292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5C2DC5-B940-4EF5-9AED-E3A0E5971D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488" y="2000913"/>
            <a:ext cx="6522106" cy="4076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44D3B8-686C-4142-9D1D-B19F5DAB9B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1730211"/>
            <a:ext cx="7696200" cy="46177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83C12D8-5D3E-426D-825C-E4FD8826716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178" y="6569786"/>
            <a:ext cx="7105922" cy="355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75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7328695" cy="1682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Data Cleaning and Preprocessing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5">
            <a:extLst>
              <a:ext uri="{FF2B5EF4-FFF2-40B4-BE49-F238E27FC236}">
                <a16:creationId xmlns:a16="http://schemas.microsoft.com/office/drawing/2014/main" id="{D6A6ACAC-593E-43FF-83A9-D50392950716}"/>
              </a:ext>
            </a:extLst>
          </p:cNvPr>
          <p:cNvGrpSpPr/>
          <p:nvPr/>
        </p:nvGrpSpPr>
        <p:grpSpPr>
          <a:xfrm>
            <a:off x="11591586" y="1849766"/>
            <a:ext cx="6587468" cy="6587468"/>
            <a:chOff x="0" y="0"/>
            <a:chExt cx="812800" cy="812800"/>
          </a:xfrm>
        </p:grpSpPr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533BA453-2818-419F-A8B7-169CE0BCD72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Box 7">
              <a:extLst>
                <a:ext uri="{FF2B5EF4-FFF2-40B4-BE49-F238E27FC236}">
                  <a16:creationId xmlns:a16="http://schemas.microsoft.com/office/drawing/2014/main" id="{2E8CCAC1-F1E2-408A-93D4-00F913670DFD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95B7634-5EF9-481B-BF0B-5A56337C35D2}"/>
              </a:ext>
            </a:extLst>
          </p:cNvPr>
          <p:cNvSpPr txBox="1"/>
          <p:nvPr/>
        </p:nvSpPr>
        <p:spPr>
          <a:xfrm>
            <a:off x="13224206" y="2266464"/>
            <a:ext cx="370820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Raw Dataset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Filter English Tickets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Handle Missing Values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Remove Sparse Features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Normalize Text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Create Combined Text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Near-Duplicate Removal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     ↓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Train / Validation / Test Split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14B0BC-BCBE-4A8E-B725-816FEAE31250}"/>
              </a:ext>
            </a:extLst>
          </p:cNvPr>
          <p:cNvSpPr txBox="1"/>
          <p:nvPr/>
        </p:nvSpPr>
        <p:spPr>
          <a:xfrm>
            <a:off x="3003707" y="2622128"/>
            <a:ext cx="8587880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-Removed Tag5–Tag8 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-approximately 13% missing values in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subjects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-Missing subjects were replaced with empty strings because the body already contained sufficient information.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Missing answers were replaced with empty strings since answers were not used as input features. 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-Created combined text </a:t>
            </a: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-Added text length features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-English tickets retained: </a:t>
            </a:r>
            <a:r>
              <a:rPr lang="en-US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16,338</a:t>
            </a: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-German tickets removed: </a:t>
            </a:r>
            <a:r>
              <a:rPr lang="en-US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12,249</a:t>
            </a: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-Near-Duplicate Removal to 10,893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E861C0-8740-420A-8AC4-33D8B015B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41054"/>
              </p:ext>
            </p:extLst>
          </p:nvPr>
        </p:nvGraphicFramePr>
        <p:xfrm>
          <a:off x="8228418" y="8366884"/>
          <a:ext cx="5010536" cy="16829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5268">
                  <a:extLst>
                    <a:ext uri="{9D8B030D-6E8A-4147-A177-3AD203B41FA5}">
                      <a16:colId xmlns:a16="http://schemas.microsoft.com/office/drawing/2014/main" val="4256794996"/>
                    </a:ext>
                  </a:extLst>
                </a:gridCol>
                <a:gridCol w="2505268">
                  <a:extLst>
                    <a:ext uri="{9D8B030D-6E8A-4147-A177-3AD203B41FA5}">
                      <a16:colId xmlns:a16="http://schemas.microsoft.com/office/drawing/2014/main" val="3973318334"/>
                    </a:ext>
                  </a:extLst>
                </a:gridCol>
              </a:tblGrid>
              <a:tr h="4207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Split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Size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7153422"/>
                  </a:ext>
                </a:extLst>
              </a:tr>
              <a:tr h="4207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Training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7625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6599918"/>
                  </a:ext>
                </a:extLst>
              </a:tr>
              <a:tr h="4207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Validation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1634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9560359"/>
                  </a:ext>
                </a:extLst>
              </a:tr>
              <a:tr h="4207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Testing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1634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49050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10540" y="5817344"/>
            <a:ext cx="5575939" cy="5028483"/>
          </a:xfrm>
          <a:custGeom>
            <a:avLst/>
            <a:gdLst/>
            <a:ahLst/>
            <a:cxnLst/>
            <a:rect l="l" t="t" r="r" b="b"/>
            <a:pathLst>
              <a:path w="5575939" h="5028483">
                <a:moveTo>
                  <a:pt x="0" y="0"/>
                </a:moveTo>
                <a:lnTo>
                  <a:pt x="5575939" y="0"/>
                </a:lnTo>
                <a:lnTo>
                  <a:pt x="5575939" y="5028483"/>
                </a:lnTo>
                <a:lnTo>
                  <a:pt x="0" y="502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308728" y="-3206975"/>
            <a:ext cx="8628228" cy="8471351"/>
          </a:xfrm>
          <a:custGeom>
            <a:avLst/>
            <a:gdLst/>
            <a:ahLst/>
            <a:cxnLst/>
            <a:rect l="l" t="t" r="r" b="b"/>
            <a:pathLst>
              <a:path w="8628228" h="8471351">
                <a:moveTo>
                  <a:pt x="0" y="0"/>
                </a:moveTo>
                <a:lnTo>
                  <a:pt x="8628228" y="0"/>
                </a:lnTo>
                <a:lnTo>
                  <a:pt x="8628228" y="8471350"/>
                </a:lnTo>
                <a:lnTo>
                  <a:pt x="0" y="847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4551330" y="-142115"/>
            <a:ext cx="4555478" cy="4257301"/>
          </a:xfrm>
          <a:custGeom>
            <a:avLst/>
            <a:gdLst/>
            <a:ahLst/>
            <a:cxnLst/>
            <a:rect l="l" t="t" r="r" b="b"/>
            <a:pathLst>
              <a:path w="4555478" h="4257301">
                <a:moveTo>
                  <a:pt x="4555478" y="4257301"/>
                </a:moveTo>
                <a:lnTo>
                  <a:pt x="0" y="4257301"/>
                </a:lnTo>
                <a:lnTo>
                  <a:pt x="0" y="0"/>
                </a:lnTo>
                <a:lnTo>
                  <a:pt x="4555478" y="0"/>
                </a:lnTo>
                <a:lnTo>
                  <a:pt x="4555478" y="4257301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V="1">
            <a:off x="-2544676" y="-8348019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8044211"/>
                </a:moveTo>
                <a:lnTo>
                  <a:pt x="5864961" y="8044211"/>
                </a:lnTo>
                <a:lnTo>
                  <a:pt x="5864961" y="0"/>
                </a:lnTo>
                <a:lnTo>
                  <a:pt x="0" y="0"/>
                </a:lnTo>
                <a:lnTo>
                  <a:pt x="0" y="8044211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4551330" y="5940634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0"/>
                </a:moveTo>
                <a:lnTo>
                  <a:pt x="0" y="0"/>
                </a:lnTo>
                <a:lnTo>
                  <a:pt x="0" y="8044211"/>
                </a:lnTo>
                <a:lnTo>
                  <a:pt x="5864961" y="8044211"/>
                </a:lnTo>
                <a:lnTo>
                  <a:pt x="5864961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593699" y="493421"/>
            <a:ext cx="8836330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Figures: EDA processed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85275" y="549043"/>
            <a:ext cx="584309" cy="959313"/>
          </a:xfrm>
          <a:custGeom>
            <a:avLst/>
            <a:gdLst/>
            <a:ahLst/>
            <a:cxnLst/>
            <a:rect l="l" t="t" r="r" b="b"/>
            <a:pathLst>
              <a:path w="584309" h="959313">
                <a:moveTo>
                  <a:pt x="0" y="0"/>
                </a:moveTo>
                <a:lnTo>
                  <a:pt x="584309" y="0"/>
                </a:lnTo>
                <a:lnTo>
                  <a:pt x="584309" y="959314"/>
                </a:lnTo>
                <a:lnTo>
                  <a:pt x="0" y="959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694394" y="7129886"/>
            <a:ext cx="787365" cy="1292688"/>
          </a:xfrm>
          <a:custGeom>
            <a:avLst/>
            <a:gdLst/>
            <a:ahLst/>
            <a:cxnLst/>
            <a:rect l="l" t="t" r="r" b="b"/>
            <a:pathLst>
              <a:path w="787365" h="1292688">
                <a:moveTo>
                  <a:pt x="0" y="0"/>
                </a:moveTo>
                <a:lnTo>
                  <a:pt x="787365" y="0"/>
                </a:lnTo>
                <a:lnTo>
                  <a:pt x="787365" y="1292689"/>
                </a:lnTo>
                <a:lnTo>
                  <a:pt x="0" y="1292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45E09BA-8002-47BC-8702-568F94B11A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624" y="1883541"/>
            <a:ext cx="6212817" cy="46596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D7D418A-6786-432B-B4E9-443E077258B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380" y="3669577"/>
            <a:ext cx="8001000" cy="533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16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10540" y="5817344"/>
            <a:ext cx="5575939" cy="5028483"/>
          </a:xfrm>
          <a:custGeom>
            <a:avLst/>
            <a:gdLst/>
            <a:ahLst/>
            <a:cxnLst/>
            <a:rect l="l" t="t" r="r" b="b"/>
            <a:pathLst>
              <a:path w="5575939" h="5028483">
                <a:moveTo>
                  <a:pt x="0" y="0"/>
                </a:moveTo>
                <a:lnTo>
                  <a:pt x="5575939" y="0"/>
                </a:lnTo>
                <a:lnTo>
                  <a:pt x="5575939" y="5028483"/>
                </a:lnTo>
                <a:lnTo>
                  <a:pt x="0" y="502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308728" y="-3206975"/>
            <a:ext cx="8628228" cy="8471351"/>
          </a:xfrm>
          <a:custGeom>
            <a:avLst/>
            <a:gdLst/>
            <a:ahLst/>
            <a:cxnLst/>
            <a:rect l="l" t="t" r="r" b="b"/>
            <a:pathLst>
              <a:path w="8628228" h="8471351">
                <a:moveTo>
                  <a:pt x="0" y="0"/>
                </a:moveTo>
                <a:lnTo>
                  <a:pt x="8628228" y="0"/>
                </a:lnTo>
                <a:lnTo>
                  <a:pt x="8628228" y="8471350"/>
                </a:lnTo>
                <a:lnTo>
                  <a:pt x="0" y="847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4551330" y="-142115"/>
            <a:ext cx="4555478" cy="4257301"/>
          </a:xfrm>
          <a:custGeom>
            <a:avLst/>
            <a:gdLst/>
            <a:ahLst/>
            <a:cxnLst/>
            <a:rect l="l" t="t" r="r" b="b"/>
            <a:pathLst>
              <a:path w="4555478" h="4257301">
                <a:moveTo>
                  <a:pt x="4555478" y="4257301"/>
                </a:moveTo>
                <a:lnTo>
                  <a:pt x="0" y="4257301"/>
                </a:lnTo>
                <a:lnTo>
                  <a:pt x="0" y="0"/>
                </a:lnTo>
                <a:lnTo>
                  <a:pt x="4555478" y="0"/>
                </a:lnTo>
                <a:lnTo>
                  <a:pt x="4555478" y="4257301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V="1">
            <a:off x="-2544676" y="-8348019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8044211"/>
                </a:moveTo>
                <a:lnTo>
                  <a:pt x="5864961" y="8044211"/>
                </a:lnTo>
                <a:lnTo>
                  <a:pt x="5864961" y="0"/>
                </a:lnTo>
                <a:lnTo>
                  <a:pt x="0" y="0"/>
                </a:lnTo>
                <a:lnTo>
                  <a:pt x="0" y="8044211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4551330" y="5940634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0"/>
                </a:moveTo>
                <a:lnTo>
                  <a:pt x="0" y="0"/>
                </a:lnTo>
                <a:lnTo>
                  <a:pt x="0" y="8044211"/>
                </a:lnTo>
                <a:lnTo>
                  <a:pt x="5864961" y="8044211"/>
                </a:lnTo>
                <a:lnTo>
                  <a:pt x="5864961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715000" y="604031"/>
            <a:ext cx="8836330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Figures: EDA processed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85275" y="549043"/>
            <a:ext cx="584309" cy="959313"/>
          </a:xfrm>
          <a:custGeom>
            <a:avLst/>
            <a:gdLst/>
            <a:ahLst/>
            <a:cxnLst/>
            <a:rect l="l" t="t" r="r" b="b"/>
            <a:pathLst>
              <a:path w="584309" h="959313">
                <a:moveTo>
                  <a:pt x="0" y="0"/>
                </a:moveTo>
                <a:lnTo>
                  <a:pt x="584309" y="0"/>
                </a:lnTo>
                <a:lnTo>
                  <a:pt x="584309" y="959314"/>
                </a:lnTo>
                <a:lnTo>
                  <a:pt x="0" y="959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694394" y="7129886"/>
            <a:ext cx="787365" cy="1292688"/>
          </a:xfrm>
          <a:custGeom>
            <a:avLst/>
            <a:gdLst/>
            <a:ahLst/>
            <a:cxnLst/>
            <a:rect l="l" t="t" r="r" b="b"/>
            <a:pathLst>
              <a:path w="787365" h="1292688">
                <a:moveTo>
                  <a:pt x="0" y="0"/>
                </a:moveTo>
                <a:lnTo>
                  <a:pt x="787365" y="0"/>
                </a:lnTo>
                <a:lnTo>
                  <a:pt x="787365" y="1292689"/>
                </a:lnTo>
                <a:lnTo>
                  <a:pt x="0" y="1292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F12D68-4AE4-47F1-9B6A-209FC7AB62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00" y="1760802"/>
            <a:ext cx="7847945" cy="5298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3CC9AE-11F1-419A-9549-B8615146BC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560" y="4115187"/>
            <a:ext cx="8973312" cy="529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0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10540" y="5817344"/>
            <a:ext cx="5575939" cy="5028483"/>
          </a:xfrm>
          <a:custGeom>
            <a:avLst/>
            <a:gdLst/>
            <a:ahLst/>
            <a:cxnLst/>
            <a:rect l="l" t="t" r="r" b="b"/>
            <a:pathLst>
              <a:path w="5575939" h="5028483">
                <a:moveTo>
                  <a:pt x="0" y="0"/>
                </a:moveTo>
                <a:lnTo>
                  <a:pt x="5575939" y="0"/>
                </a:lnTo>
                <a:lnTo>
                  <a:pt x="5575939" y="5028483"/>
                </a:lnTo>
                <a:lnTo>
                  <a:pt x="0" y="502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308728" y="-3206975"/>
            <a:ext cx="8628228" cy="8471351"/>
          </a:xfrm>
          <a:custGeom>
            <a:avLst/>
            <a:gdLst/>
            <a:ahLst/>
            <a:cxnLst/>
            <a:rect l="l" t="t" r="r" b="b"/>
            <a:pathLst>
              <a:path w="8628228" h="8471351">
                <a:moveTo>
                  <a:pt x="0" y="0"/>
                </a:moveTo>
                <a:lnTo>
                  <a:pt x="8628228" y="0"/>
                </a:lnTo>
                <a:lnTo>
                  <a:pt x="8628228" y="8471350"/>
                </a:lnTo>
                <a:lnTo>
                  <a:pt x="0" y="847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4551330" y="-142115"/>
            <a:ext cx="4555478" cy="4257301"/>
          </a:xfrm>
          <a:custGeom>
            <a:avLst/>
            <a:gdLst/>
            <a:ahLst/>
            <a:cxnLst/>
            <a:rect l="l" t="t" r="r" b="b"/>
            <a:pathLst>
              <a:path w="4555478" h="4257301">
                <a:moveTo>
                  <a:pt x="4555478" y="4257301"/>
                </a:moveTo>
                <a:lnTo>
                  <a:pt x="0" y="4257301"/>
                </a:lnTo>
                <a:lnTo>
                  <a:pt x="0" y="0"/>
                </a:lnTo>
                <a:lnTo>
                  <a:pt x="4555478" y="0"/>
                </a:lnTo>
                <a:lnTo>
                  <a:pt x="4555478" y="4257301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V="1">
            <a:off x="-2544676" y="-8348019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8044211"/>
                </a:moveTo>
                <a:lnTo>
                  <a:pt x="5864961" y="8044211"/>
                </a:lnTo>
                <a:lnTo>
                  <a:pt x="5864961" y="0"/>
                </a:lnTo>
                <a:lnTo>
                  <a:pt x="0" y="0"/>
                </a:lnTo>
                <a:lnTo>
                  <a:pt x="0" y="8044211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4551330" y="5940634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0"/>
                </a:moveTo>
                <a:lnTo>
                  <a:pt x="0" y="0"/>
                </a:lnTo>
                <a:lnTo>
                  <a:pt x="0" y="8044211"/>
                </a:lnTo>
                <a:lnTo>
                  <a:pt x="5864961" y="8044211"/>
                </a:lnTo>
                <a:lnTo>
                  <a:pt x="5864961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715000" y="604031"/>
            <a:ext cx="8836330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Figures: EDA processed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85275" y="549043"/>
            <a:ext cx="584309" cy="959313"/>
          </a:xfrm>
          <a:custGeom>
            <a:avLst/>
            <a:gdLst/>
            <a:ahLst/>
            <a:cxnLst/>
            <a:rect l="l" t="t" r="r" b="b"/>
            <a:pathLst>
              <a:path w="584309" h="959313">
                <a:moveTo>
                  <a:pt x="0" y="0"/>
                </a:moveTo>
                <a:lnTo>
                  <a:pt x="584309" y="0"/>
                </a:lnTo>
                <a:lnTo>
                  <a:pt x="584309" y="959314"/>
                </a:lnTo>
                <a:lnTo>
                  <a:pt x="0" y="959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694394" y="7129886"/>
            <a:ext cx="787365" cy="1292688"/>
          </a:xfrm>
          <a:custGeom>
            <a:avLst/>
            <a:gdLst/>
            <a:ahLst/>
            <a:cxnLst/>
            <a:rect l="l" t="t" r="r" b="b"/>
            <a:pathLst>
              <a:path w="787365" h="1292688">
                <a:moveTo>
                  <a:pt x="0" y="0"/>
                </a:moveTo>
                <a:lnTo>
                  <a:pt x="787365" y="0"/>
                </a:lnTo>
                <a:lnTo>
                  <a:pt x="787365" y="1292689"/>
                </a:lnTo>
                <a:lnTo>
                  <a:pt x="0" y="1292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AEACB2-36EC-4B66-80AF-4DCDB16068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087" y="1775977"/>
            <a:ext cx="8989133" cy="53539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CF331C-A9B1-4318-ACAC-8CF70703FC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0768" y="7219301"/>
            <a:ext cx="9144793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77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7328695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Feature Engineering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14B0BC-BCBE-4A8E-B725-816FEAE31250}"/>
              </a:ext>
            </a:extLst>
          </p:cNvPr>
          <p:cNvSpPr txBox="1"/>
          <p:nvPr/>
        </p:nvSpPr>
        <p:spPr>
          <a:xfrm>
            <a:off x="3454047" y="3502687"/>
            <a:ext cx="62036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TF-IDF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30,000 features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Unigrams, Bigrams, Trigrams</a:t>
            </a:r>
          </a:p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A87EAF-F491-4805-BAC6-CA1BDFA967A9}"/>
              </a:ext>
            </a:extLst>
          </p:cNvPr>
          <p:cNvSpPr txBox="1"/>
          <p:nvPr/>
        </p:nvSpPr>
        <p:spPr>
          <a:xfrm>
            <a:off x="10668000" y="3252572"/>
            <a:ext cx="72023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SBERT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all-MiniLM-L6-v2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384-dimensional embeddings</a:t>
            </a:r>
          </a:p>
        </p:txBody>
      </p:sp>
      <p:grpSp>
        <p:nvGrpSpPr>
          <p:cNvPr id="39" name="Group 3">
            <a:extLst>
              <a:ext uri="{FF2B5EF4-FFF2-40B4-BE49-F238E27FC236}">
                <a16:creationId xmlns:a16="http://schemas.microsoft.com/office/drawing/2014/main" id="{D99F310C-C48E-4B87-BFE3-59037C38FFDE}"/>
              </a:ext>
            </a:extLst>
          </p:cNvPr>
          <p:cNvGrpSpPr/>
          <p:nvPr/>
        </p:nvGrpSpPr>
        <p:grpSpPr>
          <a:xfrm>
            <a:off x="4623941" y="6749212"/>
            <a:ext cx="2644806" cy="860554"/>
            <a:chOff x="0" y="0"/>
            <a:chExt cx="7131932" cy="812800"/>
          </a:xfrm>
        </p:grpSpPr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69883CE9-BF59-41D4-BC4E-D4BD69910682}"/>
                </a:ext>
              </a:extLst>
            </p:cNvPr>
            <p:cNvSpPr/>
            <p:nvPr/>
          </p:nvSpPr>
          <p:spPr>
            <a:xfrm>
              <a:off x="0" y="0"/>
              <a:ext cx="7131932" cy="812800"/>
            </a:xfrm>
            <a:custGeom>
              <a:avLst/>
              <a:gdLst/>
              <a:ahLst/>
              <a:cxnLst/>
              <a:rect l="l" t="t" r="r" b="b"/>
              <a:pathLst>
                <a:path w="7131932" h="812800">
                  <a:moveTo>
                    <a:pt x="6893807" y="0"/>
                  </a:moveTo>
                  <a:lnTo>
                    <a:pt x="7131932" y="238125"/>
                  </a:lnTo>
                  <a:lnTo>
                    <a:pt x="7131932" y="574675"/>
                  </a:lnTo>
                  <a:lnTo>
                    <a:pt x="6893807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6893807" y="0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2A74B2">
                      <a:alpha val="100000"/>
                    </a:srgbClr>
                  </a:gs>
                  <a:gs pos="100000">
                    <a:srgbClr val="24468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1" name="TextBox 5">
              <a:extLst>
                <a:ext uri="{FF2B5EF4-FFF2-40B4-BE49-F238E27FC236}">
                  <a16:creationId xmlns:a16="http://schemas.microsoft.com/office/drawing/2014/main" id="{720D3D22-79C1-4DBA-A438-1B67E1B45CFF}"/>
                </a:ext>
              </a:extLst>
            </p:cNvPr>
            <p:cNvSpPr txBox="1"/>
            <p:nvPr/>
          </p:nvSpPr>
          <p:spPr>
            <a:xfrm>
              <a:off x="63500" y="25400"/>
              <a:ext cx="7004932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51E63952-BB61-49E1-8BC4-7701276D5744}"/>
              </a:ext>
            </a:extLst>
          </p:cNvPr>
          <p:cNvSpPr txBox="1"/>
          <p:nvPr/>
        </p:nvSpPr>
        <p:spPr>
          <a:xfrm>
            <a:off x="5349105" y="6827772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Note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A113BF-9E09-4F78-ACD3-A85B1CADA6CC}"/>
              </a:ext>
            </a:extLst>
          </p:cNvPr>
          <p:cNvSpPr txBox="1"/>
          <p:nvPr/>
        </p:nvSpPr>
        <p:spPr>
          <a:xfrm>
            <a:off x="5105400" y="7937389"/>
            <a:ext cx="102876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Removed 5,445 semantic duplicates (33.3%) before splitting, and leakage analysis confirmed 0% train–test overlap above the chosen similarity threshold.</a:t>
            </a:r>
          </a:p>
        </p:txBody>
      </p:sp>
    </p:spTree>
    <p:extLst>
      <p:ext uri="{BB962C8B-B14F-4D97-AF65-F5344CB8AC3E}">
        <p14:creationId xmlns:p14="http://schemas.microsoft.com/office/powerpoint/2010/main" val="391574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6C92D-46EB-4B14-9216-B5BAA275AF3F}"/>
              </a:ext>
            </a:extLst>
          </p:cNvPr>
          <p:cNvSpPr txBox="1"/>
          <p:nvPr/>
        </p:nvSpPr>
        <p:spPr>
          <a:xfrm>
            <a:off x="3657600" y="3212875"/>
            <a:ext cx="12228598" cy="5462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objective of this milestone was to develop and evaluate different approaches for automatic support ticket classification. Three approaches were investigated: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Traditional Machine Learning using TF-IDF features.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Transformer-based classification using </a:t>
            </a:r>
            <a:r>
              <a:rPr lang="en-US" sz="3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DistilBERT</a:t>
            </a:r>
            <a:r>
              <a:rPr lang="en-US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Retrieval-Augmented Generation (RAG) using semantic retrieval and similarity-based voting. </a:t>
            </a:r>
          </a:p>
          <a:p>
            <a:pPr marL="0" marR="0"/>
            <a:r>
              <a:rPr lang="en-US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three approaches were compared on the tasks of predicting the ticket </a:t>
            </a:r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</a:t>
            </a:r>
            <a:r>
              <a:rPr lang="en-US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Queue</a:t>
            </a:r>
            <a:r>
              <a:rPr lang="en-US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Priority</a:t>
            </a:r>
            <a:r>
              <a:rPr lang="en-US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identify the most effective solution for the customer support domain.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89E98D-989B-447A-95FC-2F470D827B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789997"/>
            <a:ext cx="7334124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230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7328695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Model Development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5">
            <a:extLst>
              <a:ext uri="{FF2B5EF4-FFF2-40B4-BE49-F238E27FC236}">
                <a16:creationId xmlns:a16="http://schemas.microsoft.com/office/drawing/2014/main" id="{D6A6ACAC-593E-43FF-83A9-D50392950716}"/>
              </a:ext>
            </a:extLst>
          </p:cNvPr>
          <p:cNvGrpSpPr/>
          <p:nvPr/>
        </p:nvGrpSpPr>
        <p:grpSpPr>
          <a:xfrm>
            <a:off x="1468214" y="3908108"/>
            <a:ext cx="4434129" cy="4465338"/>
            <a:chOff x="-25687" y="-154314"/>
            <a:chExt cx="812800" cy="903614"/>
          </a:xfrm>
        </p:grpSpPr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533BA453-2818-419F-A8B7-169CE0BCD725}"/>
                </a:ext>
              </a:extLst>
            </p:cNvPr>
            <p:cNvSpPr/>
            <p:nvPr/>
          </p:nvSpPr>
          <p:spPr>
            <a:xfrm>
              <a:off x="-25687" y="-15431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Box 7">
              <a:extLst>
                <a:ext uri="{FF2B5EF4-FFF2-40B4-BE49-F238E27FC236}">
                  <a16:creationId xmlns:a16="http://schemas.microsoft.com/office/drawing/2014/main" id="{2E8CCAC1-F1E2-408A-93D4-00F913670DFD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0889BA5-8A4D-4C5F-AE8A-548FD137A154}"/>
              </a:ext>
            </a:extLst>
          </p:cNvPr>
          <p:cNvSpPr txBox="1"/>
          <p:nvPr/>
        </p:nvSpPr>
        <p:spPr>
          <a:xfrm>
            <a:off x="2357011" y="4415965"/>
            <a:ext cx="36620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TF-IDF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Logistic Regression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Naïve Bayes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LinearSVC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r>
              <a:rPr lang="en-US" sz="3200" dirty="0">
                <a:solidFill>
                  <a:schemeClr val="bg1"/>
                </a:solidFill>
              </a:rPr>
              <a:t>↓</a:t>
            </a:r>
          </a:p>
          <a:p>
            <a:r>
              <a:rPr lang="en-US" sz="3200" dirty="0">
                <a:solidFill>
                  <a:schemeClr val="bg1"/>
                </a:solidFill>
              </a:rPr>
              <a:t>Best: </a:t>
            </a:r>
            <a:r>
              <a:rPr lang="en-US" sz="3200" dirty="0" err="1">
                <a:solidFill>
                  <a:schemeClr val="bg1"/>
                </a:solidFill>
              </a:rPr>
              <a:t>LinearSVC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0F7D75-8EBB-446A-AB0F-1805E99841C3}"/>
              </a:ext>
            </a:extLst>
          </p:cNvPr>
          <p:cNvSpPr txBox="1"/>
          <p:nvPr/>
        </p:nvSpPr>
        <p:spPr>
          <a:xfrm>
            <a:off x="8382000" y="2019300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Traditional ML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EDD4E9-1DE1-4CE4-9B8D-172DEACB2EE9}"/>
              </a:ext>
            </a:extLst>
          </p:cNvPr>
          <p:cNvSpPr txBox="1"/>
          <p:nvPr/>
        </p:nvSpPr>
        <p:spPr>
          <a:xfrm>
            <a:off x="12877800" y="2964163"/>
            <a:ext cx="2880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Results:</a:t>
            </a:r>
            <a:endParaRPr lang="en-US" sz="3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90963A8-EEB6-4A5B-A402-8D25BF8EC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711232"/>
              </p:ext>
            </p:extLst>
          </p:nvPr>
        </p:nvGraphicFramePr>
        <p:xfrm>
          <a:off x="12024107" y="3903192"/>
          <a:ext cx="5310872" cy="39462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7718">
                  <a:extLst>
                    <a:ext uri="{9D8B030D-6E8A-4147-A177-3AD203B41FA5}">
                      <a16:colId xmlns:a16="http://schemas.microsoft.com/office/drawing/2014/main" val="3517959631"/>
                    </a:ext>
                  </a:extLst>
                </a:gridCol>
                <a:gridCol w="1327718">
                  <a:extLst>
                    <a:ext uri="{9D8B030D-6E8A-4147-A177-3AD203B41FA5}">
                      <a16:colId xmlns:a16="http://schemas.microsoft.com/office/drawing/2014/main" val="1696034377"/>
                    </a:ext>
                  </a:extLst>
                </a:gridCol>
                <a:gridCol w="1327718">
                  <a:extLst>
                    <a:ext uri="{9D8B030D-6E8A-4147-A177-3AD203B41FA5}">
                      <a16:colId xmlns:a16="http://schemas.microsoft.com/office/drawing/2014/main" val="874810003"/>
                    </a:ext>
                  </a:extLst>
                </a:gridCol>
                <a:gridCol w="1327718">
                  <a:extLst>
                    <a:ext uri="{9D8B030D-6E8A-4147-A177-3AD203B41FA5}">
                      <a16:colId xmlns:a16="http://schemas.microsoft.com/office/drawing/2014/main" val="2282874522"/>
                    </a:ext>
                  </a:extLst>
                </a:gridCol>
              </a:tblGrid>
              <a:tr h="9988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Task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Best Model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Accuracy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F1-score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9974268"/>
                  </a:ext>
                </a:extLst>
              </a:tr>
              <a:tr h="982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Type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 err="1">
                          <a:effectLst/>
                        </a:rPr>
                        <a:t>LinearSVC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82.5%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82.25%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27534520"/>
                  </a:ext>
                </a:extLst>
              </a:tr>
              <a:tr h="982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Queue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LinearSVC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47.98%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47.70%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15299559"/>
                  </a:ext>
                </a:extLst>
              </a:tr>
              <a:tr h="982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Priority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LinearSVC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52.94%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52.69%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89172501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CB811DDE-B325-413B-9A72-3DBC8AD51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328800"/>
              </p:ext>
            </p:extLst>
          </p:nvPr>
        </p:nvGraphicFramePr>
        <p:xfrm>
          <a:off x="6615112" y="4086224"/>
          <a:ext cx="4725148" cy="37632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2574">
                  <a:extLst>
                    <a:ext uri="{9D8B030D-6E8A-4147-A177-3AD203B41FA5}">
                      <a16:colId xmlns:a16="http://schemas.microsoft.com/office/drawing/2014/main" val="1721593283"/>
                    </a:ext>
                  </a:extLst>
                </a:gridCol>
                <a:gridCol w="2362574">
                  <a:extLst>
                    <a:ext uri="{9D8B030D-6E8A-4147-A177-3AD203B41FA5}">
                      <a16:colId xmlns:a16="http://schemas.microsoft.com/office/drawing/2014/main" val="676206529"/>
                    </a:ext>
                  </a:extLst>
                </a:gridCol>
              </a:tblGrid>
              <a:tr h="5415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Parameter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Value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17061965"/>
                  </a:ext>
                </a:extLst>
              </a:tr>
              <a:tr h="10556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Feature Representation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TF-IDF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49313521"/>
                  </a:ext>
                </a:extLst>
              </a:tr>
              <a:tr h="5415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Maximum Features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30,000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27854519"/>
                  </a:ext>
                </a:extLst>
              </a:tr>
              <a:tr h="5415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Grid Search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Yes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46540540"/>
                  </a:ext>
                </a:extLst>
              </a:tr>
              <a:tr h="5415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Cross Validation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3-fold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17123435"/>
                  </a:ext>
                </a:extLst>
              </a:tr>
              <a:tr h="5415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Evaluation Metric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Weighted F1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33746863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BFFD274F-229E-4B28-87F2-E4FE301A6D93}"/>
              </a:ext>
            </a:extLst>
          </p:cNvPr>
          <p:cNvSpPr txBox="1"/>
          <p:nvPr/>
        </p:nvSpPr>
        <p:spPr>
          <a:xfrm>
            <a:off x="7287705" y="3092746"/>
            <a:ext cx="39766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Hyperparameters:</a:t>
            </a:r>
            <a:endParaRPr lang="en-US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158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TF-IDF Confusion Matrix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B93083-47AF-44FF-A255-6234C1B5CC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456" y="2336791"/>
            <a:ext cx="7196153" cy="5638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87061F-3698-4510-98CB-CF380A4D02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417" y="2367239"/>
            <a:ext cx="7689127" cy="560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13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57021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TF-IDF Confusion Matrix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22C71F-432F-4EED-A3A8-D24D0A9074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816" y="2505929"/>
            <a:ext cx="8659584" cy="652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33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7328695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Model Development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0F7D75-8EBB-446A-AB0F-1805E99841C3}"/>
              </a:ext>
            </a:extLst>
          </p:cNvPr>
          <p:cNvSpPr txBox="1"/>
          <p:nvPr/>
        </p:nvSpPr>
        <p:spPr>
          <a:xfrm>
            <a:off x="8382000" y="2019300"/>
            <a:ext cx="5257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DistlBERT</a:t>
            </a:r>
            <a:r>
              <a:rPr lang="en-US" sz="3600" dirty="0">
                <a:solidFill>
                  <a:schemeClr val="bg1"/>
                </a:solidFill>
              </a:rPr>
              <a:t> Transformer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EDD4E9-1DE1-4CE4-9B8D-172DEACB2EE9}"/>
              </a:ext>
            </a:extLst>
          </p:cNvPr>
          <p:cNvSpPr txBox="1"/>
          <p:nvPr/>
        </p:nvSpPr>
        <p:spPr>
          <a:xfrm>
            <a:off x="12907679" y="3277407"/>
            <a:ext cx="2880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</a:t>
            </a:r>
            <a:endParaRPr lang="en-US" sz="3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BF40BD-A86B-4016-9A4A-8FEA52A43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785661"/>
              </p:ext>
            </p:extLst>
          </p:nvPr>
        </p:nvGraphicFramePr>
        <p:xfrm>
          <a:off x="1771650" y="4429125"/>
          <a:ext cx="7857872" cy="39387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28936">
                  <a:extLst>
                    <a:ext uri="{9D8B030D-6E8A-4147-A177-3AD203B41FA5}">
                      <a16:colId xmlns:a16="http://schemas.microsoft.com/office/drawing/2014/main" val="4098527504"/>
                    </a:ext>
                  </a:extLst>
                </a:gridCol>
                <a:gridCol w="3928936">
                  <a:extLst>
                    <a:ext uri="{9D8B030D-6E8A-4147-A177-3AD203B41FA5}">
                      <a16:colId xmlns:a16="http://schemas.microsoft.com/office/drawing/2014/main" val="993468783"/>
                    </a:ext>
                  </a:extLst>
                </a:gridCol>
              </a:tblGrid>
              <a:tr h="52242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Parameter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Value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46815724"/>
                  </a:ext>
                </a:extLst>
              </a:tr>
              <a:tr h="5693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Model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DistilBERT</a:t>
                      </a:r>
                      <a:r>
                        <a:rPr lang="en-US" sz="1600" dirty="0">
                          <a:effectLst/>
                        </a:rPr>
                        <a:t>-base-uncased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23951717"/>
                  </a:ext>
                </a:extLst>
              </a:tr>
              <a:tr h="5693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Maximum Length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128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65654643"/>
                  </a:ext>
                </a:extLst>
              </a:tr>
              <a:tr h="5693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Batch Size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93012785"/>
                  </a:ext>
                </a:extLst>
              </a:tr>
              <a:tr h="5693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Learning Rate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2×10⁻⁵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99180346"/>
                  </a:ext>
                </a:extLst>
              </a:tr>
              <a:tr h="5693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Maximum Epochs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4772800"/>
                  </a:ext>
                </a:extLst>
              </a:tr>
              <a:tr h="5693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Early Stopping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Patience = 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308328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A28C000-8F68-4156-828C-ADA9D12E12C3}"/>
              </a:ext>
            </a:extLst>
          </p:cNvPr>
          <p:cNvSpPr txBox="1"/>
          <p:nvPr/>
        </p:nvSpPr>
        <p:spPr>
          <a:xfrm>
            <a:off x="4107750" y="3196913"/>
            <a:ext cx="5715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Training Configuration</a:t>
            </a:r>
            <a:endParaRPr lang="en-US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5673C6-1530-4285-BA8F-17150A0A6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37066"/>
              </p:ext>
            </p:extLst>
          </p:nvPr>
        </p:nvGraphicFramePr>
        <p:xfrm>
          <a:off x="11658600" y="4770512"/>
          <a:ext cx="5105931" cy="31923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1977">
                  <a:extLst>
                    <a:ext uri="{9D8B030D-6E8A-4147-A177-3AD203B41FA5}">
                      <a16:colId xmlns:a16="http://schemas.microsoft.com/office/drawing/2014/main" val="217335453"/>
                    </a:ext>
                  </a:extLst>
                </a:gridCol>
                <a:gridCol w="1701977">
                  <a:extLst>
                    <a:ext uri="{9D8B030D-6E8A-4147-A177-3AD203B41FA5}">
                      <a16:colId xmlns:a16="http://schemas.microsoft.com/office/drawing/2014/main" val="1681277019"/>
                    </a:ext>
                  </a:extLst>
                </a:gridCol>
                <a:gridCol w="1701977">
                  <a:extLst>
                    <a:ext uri="{9D8B030D-6E8A-4147-A177-3AD203B41FA5}">
                      <a16:colId xmlns:a16="http://schemas.microsoft.com/office/drawing/2014/main" val="2254496172"/>
                    </a:ext>
                  </a:extLst>
                </a:gridCol>
              </a:tblGrid>
              <a:tr h="7980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Task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Accuracy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F1-score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22110495"/>
                  </a:ext>
                </a:extLst>
              </a:tr>
              <a:tr h="7980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Type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83.90%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83.52%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44561886"/>
                  </a:ext>
                </a:extLst>
              </a:tr>
              <a:tr h="7980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Queue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46.14%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44.86%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1021638"/>
                  </a:ext>
                </a:extLst>
              </a:tr>
              <a:tr h="7980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Priority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52.94%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52.39%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7831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000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 err="1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DistlBERT</a:t>
            </a: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Confusion Matrix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DD0D6-084F-4D02-A310-928B37345B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777266"/>
            <a:ext cx="7268449" cy="58147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021854-EFA1-44C6-A466-7B0FEF8289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11" y="2715648"/>
            <a:ext cx="8302954" cy="581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5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 err="1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DistlBERT</a:t>
            </a: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Confusion Matrix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FFCF83-B5D8-401A-88DB-A7ED2AF1B4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452777"/>
            <a:ext cx="8294109" cy="686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66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7328695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Model Development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5">
            <a:extLst>
              <a:ext uri="{FF2B5EF4-FFF2-40B4-BE49-F238E27FC236}">
                <a16:creationId xmlns:a16="http://schemas.microsoft.com/office/drawing/2014/main" id="{D6A6ACAC-593E-43FF-83A9-D50392950716}"/>
              </a:ext>
            </a:extLst>
          </p:cNvPr>
          <p:cNvGrpSpPr/>
          <p:nvPr/>
        </p:nvGrpSpPr>
        <p:grpSpPr>
          <a:xfrm>
            <a:off x="1658854" y="3210124"/>
            <a:ext cx="5838017" cy="5783100"/>
            <a:chOff x="-25687" y="-154314"/>
            <a:chExt cx="812800" cy="903614"/>
          </a:xfrm>
        </p:grpSpPr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533BA453-2818-419F-A8B7-169CE0BCD725}"/>
                </a:ext>
              </a:extLst>
            </p:cNvPr>
            <p:cNvSpPr/>
            <p:nvPr/>
          </p:nvSpPr>
          <p:spPr>
            <a:xfrm>
              <a:off x="-25687" y="-15431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Box 7">
              <a:extLst>
                <a:ext uri="{FF2B5EF4-FFF2-40B4-BE49-F238E27FC236}">
                  <a16:creationId xmlns:a16="http://schemas.microsoft.com/office/drawing/2014/main" id="{2E8CCAC1-F1E2-408A-93D4-00F913670DFD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0889BA5-8A4D-4C5F-AE8A-548FD137A154}"/>
              </a:ext>
            </a:extLst>
          </p:cNvPr>
          <p:cNvSpPr txBox="1"/>
          <p:nvPr/>
        </p:nvSpPr>
        <p:spPr>
          <a:xfrm>
            <a:off x="1988994" y="4229417"/>
            <a:ext cx="5257286" cy="373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Sentence-BERT embeddings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FAISS </a:t>
            </a:r>
            <a:r>
              <a:rPr lang="en-US" sz="3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IndexFlatIP</a:t>
            </a:r>
            <a:r>
              <a:rPr lang="en-US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Cosine similarity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Similarity threshold filtering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Weighted majority voting 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0F7D75-8EBB-446A-AB0F-1805E99841C3}"/>
              </a:ext>
            </a:extLst>
          </p:cNvPr>
          <p:cNvSpPr txBox="1"/>
          <p:nvPr/>
        </p:nvSpPr>
        <p:spPr>
          <a:xfrm>
            <a:off x="8382000" y="2019300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RAG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EDD4E9-1DE1-4CE4-9B8D-172DEACB2EE9}"/>
              </a:ext>
            </a:extLst>
          </p:cNvPr>
          <p:cNvSpPr txBox="1"/>
          <p:nvPr/>
        </p:nvSpPr>
        <p:spPr>
          <a:xfrm>
            <a:off x="9662626" y="2989455"/>
            <a:ext cx="2880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</a:t>
            </a:r>
            <a:endParaRPr lang="en-US" sz="3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7CF359-CAEC-47ED-A51E-68DEC16E3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584122"/>
              </p:ext>
            </p:extLst>
          </p:nvPr>
        </p:nvGraphicFramePr>
        <p:xfrm>
          <a:off x="9419386" y="4304614"/>
          <a:ext cx="4783228" cy="33167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91614">
                  <a:extLst>
                    <a:ext uri="{9D8B030D-6E8A-4147-A177-3AD203B41FA5}">
                      <a16:colId xmlns:a16="http://schemas.microsoft.com/office/drawing/2014/main" val="4197913521"/>
                    </a:ext>
                  </a:extLst>
                </a:gridCol>
                <a:gridCol w="2391614">
                  <a:extLst>
                    <a:ext uri="{9D8B030D-6E8A-4147-A177-3AD203B41FA5}">
                      <a16:colId xmlns:a16="http://schemas.microsoft.com/office/drawing/2014/main" val="3848155319"/>
                    </a:ext>
                  </a:extLst>
                </a:gridCol>
              </a:tblGrid>
              <a:tr h="82918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Task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Accuracy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50199410"/>
                  </a:ext>
                </a:extLst>
              </a:tr>
              <a:tr h="82918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Type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79.31%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02159656"/>
                  </a:ext>
                </a:extLst>
              </a:tr>
              <a:tr h="82918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Queue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41.98%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28265907"/>
                  </a:ext>
                </a:extLst>
              </a:tr>
              <a:tr h="82918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Priority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51.65%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7038534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3799AA3-959D-490C-9EBB-46D581FB17E5}"/>
              </a:ext>
            </a:extLst>
          </p:cNvPr>
          <p:cNvSpPr txBox="1"/>
          <p:nvPr/>
        </p:nvSpPr>
        <p:spPr>
          <a:xfrm>
            <a:off x="9662626" y="8198863"/>
            <a:ext cx="492582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Average BLEU Score</a:t>
            </a:r>
            <a:endParaRPr lang="en-US" sz="3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0.2106</a:t>
            </a:r>
          </a:p>
        </p:txBody>
      </p:sp>
    </p:spTree>
    <p:extLst>
      <p:ext uri="{BB962C8B-B14F-4D97-AF65-F5344CB8AC3E}">
        <p14:creationId xmlns:p14="http://schemas.microsoft.com/office/powerpoint/2010/main" val="3781880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RAG Confusion Matrix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570ACD-EBAF-40C1-B849-C9732947A8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428463"/>
            <a:ext cx="6599488" cy="49916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1B4964-9436-4E36-B518-A25506F9D6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614" y="3428464"/>
            <a:ext cx="6942386" cy="499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344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RAG Confusion Matrix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6A28D9-3733-4761-BBDF-0E787F48D5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362" y="2925545"/>
            <a:ext cx="7421886" cy="53949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8A2D20-B278-45A5-9EEA-50FFB067F0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500" y="2916352"/>
            <a:ext cx="5864961" cy="540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473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Comparison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5A6F34-006D-48E0-9FC3-E65BF661E5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487231"/>
            <a:ext cx="10986388" cy="661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88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Comparison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2FF86E-3E54-4591-8B60-20DC15FC5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613" y="2527048"/>
            <a:ext cx="10562587" cy="628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5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Comparison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73DAEC-DF76-470A-A814-06D851C832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0" y="2400294"/>
            <a:ext cx="10591809" cy="601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505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Comparison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6B1989-89A7-4B07-9B35-145C8ADE9C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140" y="2336791"/>
            <a:ext cx="10484859" cy="654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43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Comparison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C2C7DE-7C4D-46A2-B833-602BBA4AC5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182" y="2613168"/>
            <a:ext cx="8850826" cy="663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73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Comparison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522848-CA58-45A3-8118-6EBA2CAF3EA9}"/>
              </a:ext>
            </a:extLst>
          </p:cNvPr>
          <p:cNvSpPr txBox="1"/>
          <p:nvPr/>
        </p:nvSpPr>
        <p:spPr>
          <a:xfrm>
            <a:off x="3200400" y="2852214"/>
            <a:ext cx="11172824" cy="356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2800" b="1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Traditional Machine Learning Performed Best:</a:t>
            </a:r>
          </a:p>
          <a:p>
            <a:pPr marL="0" marR="0"/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Following duplicate removal, </a:t>
            </a:r>
            <a:r>
              <a:rPr lang="en-US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LinearSVC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combined with TF-IDF achieved the highest performance for Queue and Priority prediction.</a:t>
            </a:r>
          </a:p>
          <a:p>
            <a:pPr marL="0" marR="0"/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outcome can be explained by the characteristics of the dataset.</a:t>
            </a:r>
          </a:p>
          <a:p>
            <a:pPr marL="0" marR="0"/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Many ticket categories are distinguished primarily by explicit keywords such as </a:t>
            </a:r>
            <a:r>
              <a:rPr lang="en-US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refund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billing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login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server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outage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marR="0"/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TF-IDF emphasizes these discriminative terms directly, allowing </a:t>
            </a:r>
            <a:r>
              <a:rPr lang="en-US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LinearSVC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learn effective decision boundaries with relatively limited training data.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D93778-2E8A-44E2-981E-E5F1F6A196D0}"/>
              </a:ext>
            </a:extLst>
          </p:cNvPr>
          <p:cNvSpPr txBox="1"/>
          <p:nvPr/>
        </p:nvSpPr>
        <p:spPr>
          <a:xfrm>
            <a:off x="3764550" y="6699478"/>
            <a:ext cx="11172824" cy="313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2800" b="1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800" b="1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Performance</a:t>
            </a:r>
          </a:p>
          <a:p>
            <a:pPr marL="0" marR="0"/>
            <a:r>
              <a:rPr lang="en-US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DistilBERT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achieved the highest accuracy for predicting ticket Type because this task benefits more from contextual semantic understanding.</a:t>
            </a:r>
          </a:p>
          <a:p>
            <a:pPr marL="0" marR="0"/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However, transformer models require larger datasets to fully exploit their representational power. After removing near-duplicate tickets, only approximately </a:t>
            </a:r>
            <a:r>
              <a:rPr lang="en-US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7,600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training samples remained, limiting the potential advantages of fine-tuning.</a:t>
            </a:r>
          </a:p>
        </p:txBody>
      </p:sp>
    </p:spTree>
    <p:extLst>
      <p:ext uri="{BB962C8B-B14F-4D97-AF65-F5344CB8AC3E}">
        <p14:creationId xmlns:p14="http://schemas.microsoft.com/office/powerpoint/2010/main" val="3557713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53144" y="-544494"/>
            <a:ext cx="6599488" cy="6167522"/>
          </a:xfrm>
          <a:custGeom>
            <a:avLst/>
            <a:gdLst/>
            <a:ahLst/>
            <a:cxnLst/>
            <a:rect l="l" t="t" r="r" b="b"/>
            <a:pathLst>
              <a:path w="6599488" h="6167522">
                <a:moveTo>
                  <a:pt x="0" y="6167522"/>
                </a:moveTo>
                <a:lnTo>
                  <a:pt x="6599488" y="6167522"/>
                </a:lnTo>
                <a:lnTo>
                  <a:pt x="6599488" y="0"/>
                </a:lnTo>
                <a:lnTo>
                  <a:pt x="0" y="0"/>
                </a:lnTo>
                <a:lnTo>
                  <a:pt x="0" y="616752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736244" y="6827772"/>
            <a:ext cx="3943869" cy="3685725"/>
          </a:xfrm>
          <a:custGeom>
            <a:avLst/>
            <a:gdLst/>
            <a:ahLst/>
            <a:cxnLst/>
            <a:rect l="l" t="t" r="r" b="b"/>
            <a:pathLst>
              <a:path w="3943869" h="3685725">
                <a:moveTo>
                  <a:pt x="3943869" y="0"/>
                </a:moveTo>
                <a:lnTo>
                  <a:pt x="0" y="0"/>
                </a:lnTo>
                <a:lnTo>
                  <a:pt x="0" y="3685724"/>
                </a:lnTo>
                <a:lnTo>
                  <a:pt x="3943869" y="3685724"/>
                </a:lnTo>
                <a:lnTo>
                  <a:pt x="39438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42733" y="-4022105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0"/>
                </a:moveTo>
                <a:lnTo>
                  <a:pt x="0" y="8044210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775280" y="884400"/>
            <a:ext cx="10363631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Comparison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3110612" y="8884622"/>
            <a:ext cx="455208" cy="747356"/>
          </a:xfrm>
          <a:custGeom>
            <a:avLst/>
            <a:gdLst/>
            <a:ahLst/>
            <a:cxnLst/>
            <a:rect l="l" t="t" r="r" b="b"/>
            <a:pathLst>
              <a:path w="455208" h="747356">
                <a:moveTo>
                  <a:pt x="0" y="0"/>
                </a:moveTo>
                <a:lnTo>
                  <a:pt x="455208" y="0"/>
                </a:lnTo>
                <a:lnTo>
                  <a:pt x="455208" y="747356"/>
                </a:lnTo>
                <a:lnTo>
                  <a:pt x="0" y="747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138911" y="281344"/>
            <a:ext cx="734633" cy="1206113"/>
          </a:xfrm>
          <a:custGeom>
            <a:avLst/>
            <a:gdLst/>
            <a:ahLst/>
            <a:cxnLst/>
            <a:rect l="l" t="t" r="r" b="b"/>
            <a:pathLst>
              <a:path w="734633" h="1206113">
                <a:moveTo>
                  <a:pt x="0" y="0"/>
                </a:moveTo>
                <a:lnTo>
                  <a:pt x="734633" y="0"/>
                </a:lnTo>
                <a:lnTo>
                  <a:pt x="734633" y="1206113"/>
                </a:lnTo>
                <a:lnTo>
                  <a:pt x="0" y="1206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5D59E-976F-4BEC-A3CD-C3A058494B25}"/>
              </a:ext>
            </a:extLst>
          </p:cNvPr>
          <p:cNvSpPr txBox="1"/>
          <p:nvPr/>
        </p:nvSpPr>
        <p:spPr>
          <a:xfrm>
            <a:off x="4343400" y="3438802"/>
            <a:ext cx="11172824" cy="498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2800" b="1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Role of RAG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Retrieval-Augmented Generation pipeline achieved the lowest classification accuracy because similarity-based voting over a small number of retrieved examples is fundamentally different from supervised learning.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Nevertheless, RAG serves a different purpose within the overall system.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Its primary contribution is generating context-aware customer responses by incorporating similar historical support cases, rather than maximizing classification accuracy.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Consequently, RAG remains an essential component of the complete support ticket system despite its lower classification metrics.</a:t>
            </a:r>
          </a:p>
        </p:txBody>
      </p:sp>
    </p:spTree>
    <p:extLst>
      <p:ext uri="{BB962C8B-B14F-4D97-AF65-F5344CB8AC3E}">
        <p14:creationId xmlns:p14="http://schemas.microsoft.com/office/powerpoint/2010/main" val="2923783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33062" y="4903228"/>
            <a:ext cx="1658168" cy="165816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857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2595556" y="5173447"/>
            <a:ext cx="1133178" cy="1117730"/>
          </a:xfrm>
          <a:custGeom>
            <a:avLst/>
            <a:gdLst/>
            <a:ahLst/>
            <a:cxnLst/>
            <a:rect l="l" t="t" r="r" b="b"/>
            <a:pathLst>
              <a:path w="1133178" h="1117730">
                <a:moveTo>
                  <a:pt x="0" y="0"/>
                </a:moveTo>
                <a:lnTo>
                  <a:pt x="1133178" y="0"/>
                </a:lnTo>
                <a:lnTo>
                  <a:pt x="1133178" y="1117729"/>
                </a:lnTo>
                <a:lnTo>
                  <a:pt x="0" y="11177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System Architecture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E84E20-EF16-4630-8F20-16BCB5D8DCF0}"/>
              </a:ext>
            </a:extLst>
          </p:cNvPr>
          <p:cNvSpPr txBox="1"/>
          <p:nvPr/>
        </p:nvSpPr>
        <p:spPr>
          <a:xfrm>
            <a:off x="6037528" y="1642858"/>
            <a:ext cx="6447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System Integration &amp; Deployment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3AD2C0-1B7A-48FE-8EE9-DF2AA238329F}"/>
              </a:ext>
            </a:extLst>
          </p:cNvPr>
          <p:cNvSpPr txBox="1"/>
          <p:nvPr/>
        </p:nvSpPr>
        <p:spPr>
          <a:xfrm>
            <a:off x="6559391" y="8420100"/>
            <a:ext cx="43828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SQLite Database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│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▼</a:t>
            </a:r>
          </a:p>
          <a:p>
            <a:r>
              <a:rPr lang="en-US" sz="2000" dirty="0">
                <a:solidFill>
                  <a:schemeClr val="bg1"/>
                </a:solidFill>
              </a:rPr>
              <a:t>Admin Dashboard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B4BA4E-A91D-4532-B1E5-92E9AFF4EE85}"/>
              </a:ext>
            </a:extLst>
          </p:cNvPr>
          <p:cNvSpPr txBox="1"/>
          <p:nvPr/>
        </p:nvSpPr>
        <p:spPr>
          <a:xfrm>
            <a:off x="3430775" y="2040309"/>
            <a:ext cx="22812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Client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 │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 ▼</a:t>
            </a:r>
          </a:p>
          <a:p>
            <a:r>
              <a:rPr lang="en-US" sz="1800" dirty="0">
                <a:solidFill>
                  <a:schemeClr val="bg1"/>
                </a:solidFill>
              </a:rPr>
              <a:t>Frontend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 │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 ▼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FastAPI</a:t>
            </a:r>
            <a:r>
              <a:rPr lang="en-US" sz="1800" dirty="0">
                <a:solidFill>
                  <a:schemeClr val="bg1"/>
                </a:solidFill>
              </a:rPr>
              <a:t> Backend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 |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346D0D-43BB-43F1-80ED-0ED1765B5FD9}"/>
              </a:ext>
            </a:extLst>
          </p:cNvPr>
          <p:cNvSpPr txBox="1"/>
          <p:nvPr/>
        </p:nvSpPr>
        <p:spPr>
          <a:xfrm>
            <a:off x="4536136" y="4299239"/>
            <a:ext cx="40655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800" dirty="0">
                <a:solidFill>
                  <a:schemeClr val="bg1"/>
                </a:solidFill>
              </a:rPr>
              <a:t>  ├  ────────► Azure ML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│              │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│              ▼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│       Type / Queue / Priority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│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├────────► Azure AI Search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│              │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│              ▼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│      Similar Tickets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│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├────────► </a:t>
            </a:r>
            <a:r>
              <a:rPr lang="en-US" sz="1800" dirty="0" err="1">
                <a:solidFill>
                  <a:schemeClr val="bg1"/>
                </a:solidFill>
              </a:rPr>
              <a:t>Qwen</a:t>
            </a:r>
            <a:endParaRPr lang="en-US" sz="1800" dirty="0">
              <a:solidFill>
                <a:schemeClr val="bg1"/>
              </a:solidFill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│              │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│              ▼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│      AI Response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                             │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                               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3565313" y="4741118"/>
            <a:ext cx="1658168" cy="165816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857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3962973" y="5179525"/>
            <a:ext cx="884213" cy="949255"/>
          </a:xfrm>
          <a:custGeom>
            <a:avLst/>
            <a:gdLst/>
            <a:ahLst/>
            <a:cxnLst/>
            <a:rect l="l" t="t" r="r" b="b"/>
            <a:pathLst>
              <a:path w="884213" h="949255">
                <a:moveTo>
                  <a:pt x="0" y="0"/>
                </a:moveTo>
                <a:lnTo>
                  <a:pt x="884213" y="0"/>
                </a:lnTo>
                <a:lnTo>
                  <a:pt x="884213" y="949256"/>
                </a:lnTo>
                <a:lnTo>
                  <a:pt x="0" y="9492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User Workflow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2765DD-37E3-486C-A6B9-AF91EB41ED17}"/>
              </a:ext>
            </a:extLst>
          </p:cNvPr>
          <p:cNvSpPr txBox="1"/>
          <p:nvPr/>
        </p:nvSpPr>
        <p:spPr>
          <a:xfrm>
            <a:off x="2743201" y="3554265"/>
            <a:ext cx="9296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Use a numbered flow:</a:t>
            </a:r>
          </a:p>
          <a:p>
            <a:pPr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User logs in. </a:t>
            </a:r>
          </a:p>
          <a:p>
            <a:pPr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Submits a ticket. </a:t>
            </a:r>
          </a:p>
          <a:p>
            <a:pPr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Azure ML predicts Type, Queue, and Priority. </a:t>
            </a:r>
          </a:p>
          <a:p>
            <a:pPr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Azure AI Search retrieves similar tickets. </a:t>
            </a:r>
          </a:p>
          <a:p>
            <a:pPr>
              <a:buFont typeface="+mj-lt"/>
              <a:buAutoNum type="arabicPeriod"/>
            </a:pPr>
            <a:r>
              <a:rPr lang="en-US" sz="3200" dirty="0" err="1">
                <a:solidFill>
                  <a:schemeClr val="bg1"/>
                </a:solidFill>
              </a:rPr>
              <a:t>Qwen</a:t>
            </a:r>
            <a:r>
              <a:rPr lang="en-US" sz="3200" dirty="0">
                <a:solidFill>
                  <a:schemeClr val="bg1"/>
                </a:solidFill>
              </a:rPr>
              <a:t> generates an AI response. </a:t>
            </a:r>
          </a:p>
          <a:p>
            <a:pPr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Ticket is stored in the database. </a:t>
            </a:r>
          </a:p>
          <a:p>
            <a:pPr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User can provide feedback or reopen the ticket.</a:t>
            </a:r>
          </a:p>
          <a:p>
            <a:pPr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Administrators monitor and resolve reopened or failed cases.  </a:t>
            </a:r>
          </a:p>
        </p:txBody>
      </p:sp>
    </p:spTree>
    <p:extLst>
      <p:ext uri="{BB962C8B-B14F-4D97-AF65-F5344CB8AC3E}">
        <p14:creationId xmlns:p14="http://schemas.microsoft.com/office/powerpoint/2010/main" val="1375192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9320560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Backend Development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552CA-124E-4B75-AEB5-612FF446395C}"/>
              </a:ext>
            </a:extLst>
          </p:cNvPr>
          <p:cNvSpPr txBox="1"/>
          <p:nvPr/>
        </p:nvSpPr>
        <p:spPr>
          <a:xfrm>
            <a:off x="2133600" y="1934583"/>
            <a:ext cx="1249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The backend was implemented using </a:t>
            </a:r>
            <a:r>
              <a:rPr lang="en-US" sz="3200" dirty="0" err="1">
                <a:solidFill>
                  <a:schemeClr val="bg1"/>
                </a:solidFill>
              </a:rPr>
              <a:t>FastAPI</a:t>
            </a:r>
            <a:r>
              <a:rPr lang="en-US" sz="3200" dirty="0">
                <a:solidFill>
                  <a:schemeClr val="bg1"/>
                </a:solidFill>
              </a:rPr>
              <a:t>, providing RESTful APIs for communication between the frontend, database, and AI services.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B09593-2013-4ABA-8384-211413CEC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818318"/>
              </p:ext>
            </p:extLst>
          </p:nvPr>
        </p:nvGraphicFramePr>
        <p:xfrm>
          <a:off x="4419600" y="4229100"/>
          <a:ext cx="9296400" cy="44981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48200">
                  <a:extLst>
                    <a:ext uri="{9D8B030D-6E8A-4147-A177-3AD203B41FA5}">
                      <a16:colId xmlns:a16="http://schemas.microsoft.com/office/drawing/2014/main" val="2589591346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3720273389"/>
                    </a:ext>
                  </a:extLst>
                </a:gridCol>
              </a:tblGrid>
              <a:tr h="5026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Module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Purpose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69067067"/>
                  </a:ext>
                </a:extLst>
              </a:tr>
              <a:tr h="5026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Authentication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User login/signup using JWT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39490311"/>
                  </a:ext>
                </a:extLst>
              </a:tr>
              <a:tr h="5026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Ticket API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Ticket submission and retrieval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01302754"/>
                  </a:ext>
                </a:extLst>
              </a:tr>
              <a:tr h="5026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Azure ML Service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Ticket classification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59315878"/>
                  </a:ext>
                </a:extLst>
              </a:tr>
              <a:tr h="5026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Azure AI Search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Similar ticket retrieval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7263195"/>
                  </a:ext>
                </a:extLst>
              </a:tr>
              <a:tr h="5026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Qwen Service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AI response generation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61419306"/>
                  </a:ext>
                </a:extLst>
              </a:tr>
              <a:tr h="9798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Database Layer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Store users, tickets, responses, logs and feedback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9945657"/>
                  </a:ext>
                </a:extLst>
              </a:tr>
              <a:tr h="5026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>
                          <a:effectLst/>
                        </a:rPr>
                        <a:t>Admin API</a:t>
                      </a:r>
                      <a:endParaRPr lang="en-US" sz="16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</a:rPr>
                        <a:t>Ticket management and monitoring</a:t>
                      </a:r>
                      <a:endParaRPr lang="en-US" sz="16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5415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6490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Database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BE8CBA-8343-4B96-A7AC-185170D751F2}"/>
              </a:ext>
            </a:extLst>
          </p:cNvPr>
          <p:cNvSpPr txBox="1"/>
          <p:nvPr/>
        </p:nvSpPr>
        <p:spPr>
          <a:xfrm>
            <a:off x="2016606" y="2098162"/>
            <a:ext cx="14930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SQLite was selected for data persistence due to its simplicity and suitability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6EA7EB-FDC4-4303-9477-F7A5D10997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112" y="3129972"/>
            <a:ext cx="9202367" cy="60521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CF97CD-DE92-4267-81F0-3D1478FE308A}"/>
              </a:ext>
            </a:extLst>
          </p:cNvPr>
          <p:cNvSpPr txBox="1"/>
          <p:nvPr/>
        </p:nvSpPr>
        <p:spPr>
          <a:xfrm>
            <a:off x="2286000" y="3593265"/>
            <a:ext cx="5416624" cy="4601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800" b="1" kern="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US" sz="2800" b="1" kern="0" dirty="0">
                <a:solidFill>
                  <a:schemeClr val="bg1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application supports secure authentication using JWT tokens.</a:t>
            </a:r>
          </a:p>
          <a:p>
            <a:pPr marL="0" marR="0"/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Features include: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User registration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User login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 login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Password hashing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Role-based authorization </a:t>
            </a:r>
          </a:p>
        </p:txBody>
      </p:sp>
    </p:spTree>
    <p:extLst>
      <p:ext uri="{BB962C8B-B14F-4D97-AF65-F5344CB8AC3E}">
        <p14:creationId xmlns:p14="http://schemas.microsoft.com/office/powerpoint/2010/main" val="561382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Login/sign up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C0337E-F6ED-4C83-BA04-A2D638DE3D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588" y="2324100"/>
            <a:ext cx="12487332" cy="629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28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Login/sign up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77E28B-75BC-459B-9F22-6375979EC6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430" y="2427640"/>
            <a:ext cx="1204912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34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Client dashboard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884E6E-21E2-49D2-A971-62F4C961C3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022" y="2042419"/>
            <a:ext cx="14608806" cy="68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781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Client dashboard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16DE46-B30B-4EAD-87C4-0DB5FCBC25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349" y="2247900"/>
            <a:ext cx="14608806" cy="693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45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Client dashboard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BC3C6D-5305-43E2-815D-9D32B7808E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459" y="2247900"/>
            <a:ext cx="14563082" cy="67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75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Admin dashboard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0AE926-D265-4981-95DC-D411857033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022" y="2108312"/>
            <a:ext cx="14608806" cy="691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680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Admin dashboard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387DCA-821A-4CF4-A042-2689B3C9D5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752" y="2584157"/>
            <a:ext cx="14563082" cy="690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98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Admin dashboard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BF8595-D5DC-4F55-A409-CDC19A0DBF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459" y="2171700"/>
            <a:ext cx="14563082" cy="691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79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 err="1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MLOps</a:t>
            </a: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CB6D950B-9012-4F99-A433-AF89B5A8BA6B}"/>
              </a:ext>
            </a:extLst>
          </p:cNvPr>
          <p:cNvSpPr/>
          <p:nvPr/>
        </p:nvSpPr>
        <p:spPr>
          <a:xfrm>
            <a:off x="527034" y="2841564"/>
            <a:ext cx="4782806" cy="4808774"/>
          </a:xfrm>
          <a:custGeom>
            <a:avLst/>
            <a:gdLst/>
            <a:ahLst/>
            <a:cxnLst/>
            <a:rect l="l" t="t" r="r" b="b"/>
            <a:pathLst>
              <a:path w="5797841" h="6388805">
                <a:moveTo>
                  <a:pt x="0" y="0"/>
                </a:moveTo>
                <a:lnTo>
                  <a:pt x="5797840" y="0"/>
                </a:lnTo>
                <a:lnTo>
                  <a:pt x="5797840" y="6388805"/>
                </a:lnTo>
                <a:lnTo>
                  <a:pt x="0" y="63888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9FC25-3AD8-432E-82D6-58AC84987863}"/>
              </a:ext>
            </a:extLst>
          </p:cNvPr>
          <p:cNvSpPr txBox="1"/>
          <p:nvPr/>
        </p:nvSpPr>
        <p:spPr>
          <a:xfrm>
            <a:off x="8230587" y="2071060"/>
            <a:ext cx="4747573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Model Training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│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▼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</a:t>
            </a:r>
            <a:r>
              <a:rPr lang="en-US" sz="2800" dirty="0" err="1">
                <a:solidFill>
                  <a:schemeClr val="bg1"/>
                </a:solidFill>
              </a:rPr>
              <a:t>MLflow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(Log Parameters &amp; Metrics)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│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▼</a:t>
            </a:r>
          </a:p>
          <a:p>
            <a:r>
              <a:rPr lang="en-US" sz="2800" dirty="0">
                <a:solidFill>
                  <a:schemeClr val="bg1"/>
                </a:solidFill>
              </a:rPr>
              <a:t> Deployed Model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│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▼</a:t>
            </a:r>
          </a:p>
          <a:p>
            <a:r>
              <a:rPr lang="en-US" sz="2800" dirty="0">
                <a:solidFill>
                  <a:schemeClr val="bg1"/>
                </a:solidFill>
              </a:rPr>
              <a:t> Monitoring System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│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▼</a:t>
            </a:r>
          </a:p>
          <a:p>
            <a:r>
              <a:rPr lang="en-US" sz="2800" dirty="0">
                <a:solidFill>
                  <a:schemeClr val="bg1"/>
                </a:solidFill>
              </a:rPr>
              <a:t> Retraining Checks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│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▼</a:t>
            </a:r>
          </a:p>
          <a:p>
            <a:r>
              <a:rPr lang="en-US" sz="2800" dirty="0">
                <a:solidFill>
                  <a:schemeClr val="bg1"/>
                </a:solidFill>
              </a:rPr>
              <a:t> Administrator Alerts</a:t>
            </a:r>
          </a:p>
        </p:txBody>
      </p:sp>
    </p:spTree>
    <p:extLst>
      <p:ext uri="{BB962C8B-B14F-4D97-AF65-F5344CB8AC3E}">
        <p14:creationId xmlns:p14="http://schemas.microsoft.com/office/powerpoint/2010/main" val="20493040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 err="1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MLOps</a:t>
            </a: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Experiments 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F924F8-93C6-4530-AC93-55CF97DC47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37" y="2623366"/>
            <a:ext cx="14608806" cy="6950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27FE2A-D4F3-4449-B884-8FDFE2B88118}"/>
              </a:ext>
            </a:extLst>
          </p:cNvPr>
          <p:cNvSpPr txBox="1"/>
          <p:nvPr/>
        </p:nvSpPr>
        <p:spPr>
          <a:xfrm>
            <a:off x="2338237" y="1669773"/>
            <a:ext cx="6699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One of the examples rest in report</a:t>
            </a:r>
          </a:p>
        </p:txBody>
      </p:sp>
    </p:spTree>
    <p:extLst>
      <p:ext uri="{BB962C8B-B14F-4D97-AF65-F5344CB8AC3E}">
        <p14:creationId xmlns:p14="http://schemas.microsoft.com/office/powerpoint/2010/main" val="12178514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 err="1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MLOps</a:t>
            </a: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Monitoring  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7FE2A-D4F3-4449-B884-8FDFE2B88118}"/>
              </a:ext>
            </a:extLst>
          </p:cNvPr>
          <p:cNvSpPr txBox="1"/>
          <p:nvPr/>
        </p:nvSpPr>
        <p:spPr>
          <a:xfrm>
            <a:off x="2338237" y="1669773"/>
            <a:ext cx="6699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5EF6351-9876-4CEA-A7B6-8EE317198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38871"/>
              </p:ext>
            </p:extLst>
          </p:nvPr>
        </p:nvGraphicFramePr>
        <p:xfrm>
          <a:off x="5029200" y="3188864"/>
          <a:ext cx="8763000" cy="3733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680997966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37157993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/>
                        <a:t>Monitoring Check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257714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/>
                        <a:t>⭐ Feedback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 satisfaction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80631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/>
                        <a:t>🎯 Confidence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Prediction reliability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27508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/>
                        <a:t>🔄 Reopened Tickets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Human intervention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583759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/>
                        <a:t>❌ Failed Tickets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AI failures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53561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/>
                        <a:t>📈 Ticket Volume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Distribution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19929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/>
                        <a:t>🆕 New 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Emerging ticket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49089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FB2B5DF-C17C-454F-A367-0974746E61FE}"/>
              </a:ext>
            </a:extLst>
          </p:cNvPr>
          <p:cNvSpPr txBox="1"/>
          <p:nvPr/>
        </p:nvSpPr>
        <p:spPr>
          <a:xfrm>
            <a:off x="5683113" y="7450184"/>
            <a:ext cx="623288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System Status</a:t>
            </a:r>
            <a:endParaRPr lang="en-US" sz="3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✅ OK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⚠️ Warning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🔴 Retraining Recommended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97D6D-586E-40CA-BE5E-0DA02B81D565}"/>
              </a:ext>
            </a:extLst>
          </p:cNvPr>
          <p:cNvSpPr txBox="1"/>
          <p:nvPr/>
        </p:nvSpPr>
        <p:spPr>
          <a:xfrm>
            <a:off x="1776970" y="1707238"/>
            <a:ext cx="147882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</a:t>
            </a:r>
            <a:r>
              <a:rPr lang="en-US" sz="2800" dirty="0" err="1">
                <a:solidFill>
                  <a:schemeClr val="bg1"/>
                </a:solidFill>
              </a:rPr>
              <a:t>MLOps</a:t>
            </a:r>
            <a:r>
              <a:rPr lang="en-US" sz="2800" dirty="0">
                <a:solidFill>
                  <a:schemeClr val="bg1"/>
                </a:solidFill>
              </a:rPr>
              <a:t> pipeline enables continuous monitoring of the deployed AI system and automatically recommends retraining when significant performance degradation is detected.</a:t>
            </a:r>
          </a:p>
        </p:txBody>
      </p:sp>
    </p:spTree>
    <p:extLst>
      <p:ext uri="{BB962C8B-B14F-4D97-AF65-F5344CB8AC3E}">
        <p14:creationId xmlns:p14="http://schemas.microsoft.com/office/powerpoint/2010/main" val="1138117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 err="1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MLOps</a:t>
            </a: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Monitoring  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7FE2A-D4F3-4449-B884-8FDFE2B88118}"/>
              </a:ext>
            </a:extLst>
          </p:cNvPr>
          <p:cNvSpPr txBox="1"/>
          <p:nvPr/>
        </p:nvSpPr>
        <p:spPr>
          <a:xfrm>
            <a:off x="2338237" y="1669773"/>
            <a:ext cx="6699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5FA011-07A5-4679-AEF1-7EE8682FE9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049" y="2338017"/>
            <a:ext cx="14543403" cy="698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9534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 err="1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MLOps</a:t>
            </a: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Monitoring  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7FE2A-D4F3-4449-B884-8FDFE2B88118}"/>
              </a:ext>
            </a:extLst>
          </p:cNvPr>
          <p:cNvSpPr txBox="1"/>
          <p:nvPr/>
        </p:nvSpPr>
        <p:spPr>
          <a:xfrm>
            <a:off x="2338237" y="1669773"/>
            <a:ext cx="6699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679C63-3A1E-4C8E-A771-43E258EEF3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590" y="2667010"/>
            <a:ext cx="14608806" cy="57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804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349987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4382812" y="0"/>
                </a:moveTo>
                <a:lnTo>
                  <a:pt x="0" y="0"/>
                </a:lnTo>
                <a:lnTo>
                  <a:pt x="0" y="4095938"/>
                </a:lnTo>
                <a:lnTo>
                  <a:pt x="4382812" y="4095938"/>
                </a:lnTo>
                <a:lnTo>
                  <a:pt x="438281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4799" y="6561397"/>
            <a:ext cx="4382812" cy="4095937"/>
          </a:xfrm>
          <a:custGeom>
            <a:avLst/>
            <a:gdLst/>
            <a:ahLst/>
            <a:cxnLst/>
            <a:rect l="l" t="t" r="r" b="b"/>
            <a:pathLst>
              <a:path w="4382812" h="4095937">
                <a:moveTo>
                  <a:pt x="0" y="0"/>
                </a:moveTo>
                <a:lnTo>
                  <a:pt x="4382812" y="0"/>
                </a:lnTo>
                <a:lnTo>
                  <a:pt x="4382812" y="4095938"/>
                </a:lnTo>
                <a:lnTo>
                  <a:pt x="0" y="4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555641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0" y="0"/>
                </a:moveTo>
                <a:lnTo>
                  <a:pt x="4782804" y="0"/>
                </a:lnTo>
                <a:lnTo>
                  <a:pt x="4782804" y="6559956"/>
                </a:lnTo>
                <a:lnTo>
                  <a:pt x="0" y="655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4782804" cy="6559956"/>
          </a:xfrm>
          <a:custGeom>
            <a:avLst/>
            <a:gdLst/>
            <a:ahLst/>
            <a:cxnLst/>
            <a:rect l="l" t="t" r="r" b="b"/>
            <a:pathLst>
              <a:path w="4782804" h="6559956">
                <a:moveTo>
                  <a:pt x="4782804" y="0"/>
                </a:moveTo>
                <a:lnTo>
                  <a:pt x="0" y="0"/>
                </a:lnTo>
                <a:lnTo>
                  <a:pt x="0" y="6559956"/>
                </a:lnTo>
                <a:lnTo>
                  <a:pt x="4782804" y="6559956"/>
                </a:lnTo>
                <a:lnTo>
                  <a:pt x="4782804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09840" y="798525"/>
            <a:ext cx="785230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 err="1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MLOps</a:t>
            </a: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Monitoring  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1467" y="909398"/>
            <a:ext cx="565606" cy="928607"/>
          </a:xfrm>
          <a:custGeom>
            <a:avLst/>
            <a:gdLst/>
            <a:ahLst/>
            <a:cxnLst/>
            <a:rect l="l" t="t" r="r" b="b"/>
            <a:pathLst>
              <a:path w="565606" h="928607">
                <a:moveTo>
                  <a:pt x="0" y="0"/>
                </a:moveTo>
                <a:lnTo>
                  <a:pt x="565606" y="0"/>
                </a:lnTo>
                <a:lnTo>
                  <a:pt x="565606" y="928607"/>
                </a:lnTo>
                <a:lnTo>
                  <a:pt x="0" y="92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721828" y="1370745"/>
            <a:ext cx="815651" cy="1339128"/>
          </a:xfrm>
          <a:custGeom>
            <a:avLst/>
            <a:gdLst/>
            <a:ahLst/>
            <a:cxnLst/>
            <a:rect l="l" t="t" r="r" b="b"/>
            <a:pathLst>
              <a:path w="815651" h="1339128">
                <a:moveTo>
                  <a:pt x="0" y="0"/>
                </a:moveTo>
                <a:lnTo>
                  <a:pt x="815651" y="0"/>
                </a:lnTo>
                <a:lnTo>
                  <a:pt x="815651" y="1339129"/>
                </a:lnTo>
                <a:lnTo>
                  <a:pt x="0" y="133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7FE2A-D4F3-4449-B884-8FDFE2B88118}"/>
              </a:ext>
            </a:extLst>
          </p:cNvPr>
          <p:cNvSpPr txBox="1"/>
          <p:nvPr/>
        </p:nvSpPr>
        <p:spPr>
          <a:xfrm>
            <a:off x="2338237" y="1669773"/>
            <a:ext cx="6699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D48909-970E-446F-9F63-1763675C18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081" y="2059359"/>
            <a:ext cx="14608806" cy="698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9217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5192739" y="7582459"/>
            <a:ext cx="3416368" cy="3192751"/>
          </a:xfrm>
          <a:custGeom>
            <a:avLst/>
            <a:gdLst/>
            <a:ahLst/>
            <a:cxnLst/>
            <a:rect l="l" t="t" r="r" b="b"/>
            <a:pathLst>
              <a:path w="3416368" h="3192751">
                <a:moveTo>
                  <a:pt x="3416367" y="0"/>
                </a:moveTo>
                <a:lnTo>
                  <a:pt x="0" y="0"/>
                </a:lnTo>
                <a:lnTo>
                  <a:pt x="0" y="3192751"/>
                </a:lnTo>
                <a:lnTo>
                  <a:pt x="3416367" y="3192751"/>
                </a:lnTo>
                <a:lnTo>
                  <a:pt x="3416367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21106" y="7582459"/>
            <a:ext cx="3416368" cy="3192751"/>
          </a:xfrm>
          <a:custGeom>
            <a:avLst/>
            <a:gdLst/>
            <a:ahLst/>
            <a:cxnLst/>
            <a:rect l="l" t="t" r="r" b="b"/>
            <a:pathLst>
              <a:path w="3416368" h="3192751">
                <a:moveTo>
                  <a:pt x="0" y="0"/>
                </a:moveTo>
                <a:lnTo>
                  <a:pt x="3416367" y="0"/>
                </a:lnTo>
                <a:lnTo>
                  <a:pt x="3416367" y="3192751"/>
                </a:lnTo>
                <a:lnTo>
                  <a:pt x="0" y="319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3959578" y="-3780842"/>
            <a:ext cx="5378868" cy="7377499"/>
          </a:xfrm>
          <a:custGeom>
            <a:avLst/>
            <a:gdLst/>
            <a:ahLst/>
            <a:cxnLst/>
            <a:rect l="l" t="t" r="r" b="b"/>
            <a:pathLst>
              <a:path w="5378868" h="7377499">
                <a:moveTo>
                  <a:pt x="0" y="0"/>
                </a:moveTo>
                <a:lnTo>
                  <a:pt x="5378867" y="0"/>
                </a:lnTo>
                <a:lnTo>
                  <a:pt x="5378867" y="7377499"/>
                </a:lnTo>
                <a:lnTo>
                  <a:pt x="0" y="7377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1050445" y="-3780842"/>
            <a:ext cx="5374162" cy="7371045"/>
          </a:xfrm>
          <a:custGeom>
            <a:avLst/>
            <a:gdLst/>
            <a:ahLst/>
            <a:cxnLst/>
            <a:rect l="l" t="t" r="r" b="b"/>
            <a:pathLst>
              <a:path w="5374162" h="7371045">
                <a:moveTo>
                  <a:pt x="5374162" y="0"/>
                </a:moveTo>
                <a:lnTo>
                  <a:pt x="0" y="0"/>
                </a:lnTo>
                <a:lnTo>
                  <a:pt x="0" y="7371045"/>
                </a:lnTo>
                <a:lnTo>
                  <a:pt x="5374162" y="7371045"/>
                </a:lnTo>
                <a:lnTo>
                  <a:pt x="5374162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877172" y="5016829"/>
            <a:ext cx="5953959" cy="1715780"/>
            <a:chOff x="0" y="0"/>
            <a:chExt cx="1196629" cy="344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6629" cy="344838"/>
            </a:xfrm>
            <a:custGeom>
              <a:avLst/>
              <a:gdLst/>
              <a:ahLst/>
              <a:cxnLst/>
              <a:rect l="l" t="t" r="r" b="b"/>
              <a:pathLst>
                <a:path w="1196629" h="344838">
                  <a:moveTo>
                    <a:pt x="0" y="0"/>
                  </a:moveTo>
                  <a:lnTo>
                    <a:pt x="1196629" y="0"/>
                  </a:lnTo>
                  <a:lnTo>
                    <a:pt x="1196629" y="344838"/>
                  </a:lnTo>
                  <a:lnTo>
                    <a:pt x="0" y="344838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2A74B2">
                      <a:alpha val="100000"/>
                    </a:srgbClr>
                  </a:gs>
                  <a:gs pos="100000">
                    <a:srgbClr val="24468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196629" cy="316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56869" y="4971328"/>
            <a:ext cx="5953959" cy="1715781"/>
            <a:chOff x="0" y="0"/>
            <a:chExt cx="1196629" cy="344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6629" cy="344838"/>
            </a:xfrm>
            <a:custGeom>
              <a:avLst/>
              <a:gdLst/>
              <a:ahLst/>
              <a:cxnLst/>
              <a:rect l="l" t="t" r="r" b="b"/>
              <a:pathLst>
                <a:path w="1196629" h="344838">
                  <a:moveTo>
                    <a:pt x="0" y="0"/>
                  </a:moveTo>
                  <a:lnTo>
                    <a:pt x="1196629" y="0"/>
                  </a:lnTo>
                  <a:lnTo>
                    <a:pt x="1196629" y="344838"/>
                  </a:lnTo>
                  <a:lnTo>
                    <a:pt x="0" y="344838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2A74B2">
                      <a:alpha val="100000"/>
                    </a:srgbClr>
                  </a:gs>
                  <a:gs pos="100000">
                    <a:srgbClr val="24468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196629" cy="316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877172" y="6917393"/>
            <a:ext cx="5953959" cy="1720158"/>
            <a:chOff x="0" y="0"/>
            <a:chExt cx="1196629" cy="3448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6629" cy="344838"/>
            </a:xfrm>
            <a:custGeom>
              <a:avLst/>
              <a:gdLst/>
              <a:ahLst/>
              <a:cxnLst/>
              <a:rect l="l" t="t" r="r" b="b"/>
              <a:pathLst>
                <a:path w="1196629" h="344838">
                  <a:moveTo>
                    <a:pt x="0" y="0"/>
                  </a:moveTo>
                  <a:lnTo>
                    <a:pt x="1196629" y="0"/>
                  </a:lnTo>
                  <a:lnTo>
                    <a:pt x="1196629" y="344838"/>
                  </a:lnTo>
                  <a:lnTo>
                    <a:pt x="0" y="344838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2A74B2">
                      <a:alpha val="100000"/>
                    </a:srgbClr>
                  </a:gs>
                  <a:gs pos="100000">
                    <a:srgbClr val="24468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196629" cy="316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56869" y="6921770"/>
            <a:ext cx="5953959" cy="1715781"/>
            <a:chOff x="0" y="0"/>
            <a:chExt cx="1196629" cy="3448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6629" cy="344838"/>
            </a:xfrm>
            <a:custGeom>
              <a:avLst/>
              <a:gdLst/>
              <a:ahLst/>
              <a:cxnLst/>
              <a:rect l="l" t="t" r="r" b="b"/>
              <a:pathLst>
                <a:path w="1196629" h="344838">
                  <a:moveTo>
                    <a:pt x="0" y="0"/>
                  </a:moveTo>
                  <a:lnTo>
                    <a:pt x="1196629" y="0"/>
                  </a:lnTo>
                  <a:lnTo>
                    <a:pt x="1196629" y="344838"/>
                  </a:lnTo>
                  <a:lnTo>
                    <a:pt x="0" y="344838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2A74B2">
                      <a:alpha val="100000"/>
                    </a:srgbClr>
                  </a:gs>
                  <a:gs pos="100000">
                    <a:srgbClr val="24468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1196629" cy="316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318124" y="5283307"/>
            <a:ext cx="1118095" cy="111809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851780" y="5270171"/>
            <a:ext cx="1118095" cy="111809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318124" y="7220613"/>
            <a:ext cx="1118095" cy="111809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851780" y="7220613"/>
            <a:ext cx="1118095" cy="111809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2604292" y="5542581"/>
            <a:ext cx="567344" cy="568479"/>
          </a:xfrm>
          <a:custGeom>
            <a:avLst/>
            <a:gdLst/>
            <a:ahLst/>
            <a:cxnLst/>
            <a:rect l="l" t="t" r="r" b="b"/>
            <a:pathLst>
              <a:path w="567344" h="568479">
                <a:moveTo>
                  <a:pt x="0" y="0"/>
                </a:moveTo>
                <a:lnTo>
                  <a:pt x="567344" y="0"/>
                </a:lnTo>
                <a:lnTo>
                  <a:pt x="567344" y="568479"/>
                </a:lnTo>
                <a:lnTo>
                  <a:pt x="0" y="568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554210" y="7456698"/>
            <a:ext cx="645924" cy="645924"/>
          </a:xfrm>
          <a:custGeom>
            <a:avLst/>
            <a:gdLst/>
            <a:ahLst/>
            <a:cxnLst/>
            <a:rect l="l" t="t" r="r" b="b"/>
            <a:pathLst>
              <a:path w="645924" h="645924">
                <a:moveTo>
                  <a:pt x="0" y="0"/>
                </a:moveTo>
                <a:lnTo>
                  <a:pt x="645924" y="0"/>
                </a:lnTo>
                <a:lnTo>
                  <a:pt x="645924" y="645924"/>
                </a:lnTo>
                <a:lnTo>
                  <a:pt x="0" y="645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5112216" y="5494041"/>
            <a:ext cx="597225" cy="670355"/>
          </a:xfrm>
          <a:custGeom>
            <a:avLst/>
            <a:gdLst/>
            <a:ahLst/>
            <a:cxnLst/>
            <a:rect l="l" t="t" r="r" b="b"/>
            <a:pathLst>
              <a:path w="597225" h="670355">
                <a:moveTo>
                  <a:pt x="0" y="0"/>
                </a:moveTo>
                <a:lnTo>
                  <a:pt x="597225" y="0"/>
                </a:lnTo>
                <a:lnTo>
                  <a:pt x="597225" y="670355"/>
                </a:lnTo>
                <a:lnTo>
                  <a:pt x="0" y="6703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5112216" y="7466773"/>
            <a:ext cx="597225" cy="597225"/>
          </a:xfrm>
          <a:custGeom>
            <a:avLst/>
            <a:gdLst/>
            <a:ahLst/>
            <a:cxnLst/>
            <a:rect l="l" t="t" r="r" b="b"/>
            <a:pathLst>
              <a:path w="597225" h="597225">
                <a:moveTo>
                  <a:pt x="0" y="0"/>
                </a:moveTo>
                <a:lnTo>
                  <a:pt x="597225" y="0"/>
                </a:lnTo>
                <a:lnTo>
                  <a:pt x="597225" y="597225"/>
                </a:lnTo>
                <a:lnTo>
                  <a:pt x="0" y="5972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5829551" y="918718"/>
            <a:ext cx="6659355" cy="871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Future Of Work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03679" y="5626329"/>
            <a:ext cx="4840100" cy="35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799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Add multilingual support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003832" y="7503262"/>
            <a:ext cx="414323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800" b="1" dirty="0">
                <a:solidFill>
                  <a:schemeClr val="bg1"/>
                </a:solidFill>
                <a:latin typeface="TT Supermolot Neue" panose="020B0604020202020204" charset="0"/>
              </a:rPr>
              <a:t>Replace SQLite with a scalable cloud database</a:t>
            </a:r>
            <a:endParaRPr lang="en-US" sz="2800" b="1" dirty="0">
              <a:solidFill>
                <a:schemeClr val="bg1"/>
              </a:solidFill>
              <a:latin typeface="TT Supermolot Neue" panose="020B0604020202020204" charset="0"/>
              <a:ea typeface="TT Supermolot Neue"/>
              <a:cs typeface="TT Supermolot Neue"/>
              <a:sym typeface="TT Supermolot Neue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971305" y="859877"/>
            <a:ext cx="539465" cy="885689"/>
          </a:xfrm>
          <a:custGeom>
            <a:avLst/>
            <a:gdLst/>
            <a:ahLst/>
            <a:cxnLst/>
            <a:rect l="l" t="t" r="r" b="b"/>
            <a:pathLst>
              <a:path w="539465" h="885689">
                <a:moveTo>
                  <a:pt x="0" y="0"/>
                </a:moveTo>
                <a:lnTo>
                  <a:pt x="539465" y="0"/>
                </a:lnTo>
                <a:lnTo>
                  <a:pt x="539465" y="885690"/>
                </a:lnTo>
                <a:lnTo>
                  <a:pt x="0" y="8856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6900922" y="859877"/>
            <a:ext cx="539465" cy="885689"/>
          </a:xfrm>
          <a:custGeom>
            <a:avLst/>
            <a:gdLst/>
            <a:ahLst/>
            <a:cxnLst/>
            <a:rect l="l" t="t" r="r" b="b"/>
            <a:pathLst>
              <a:path w="539465" h="885689">
                <a:moveTo>
                  <a:pt x="0" y="0"/>
                </a:moveTo>
                <a:lnTo>
                  <a:pt x="539466" y="0"/>
                </a:lnTo>
                <a:lnTo>
                  <a:pt x="539466" y="885690"/>
                </a:lnTo>
                <a:lnTo>
                  <a:pt x="0" y="8856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2C8AB0-3AFB-4222-906D-8B092562200E}"/>
              </a:ext>
            </a:extLst>
          </p:cNvPr>
          <p:cNvSpPr txBox="1"/>
          <p:nvPr/>
        </p:nvSpPr>
        <p:spPr>
          <a:xfrm>
            <a:off x="9709920" y="5187866"/>
            <a:ext cx="51036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effectLst/>
                <a:latin typeface="TT Supermolot Neue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Train the classification models on larger and more diverse datasets</a:t>
            </a:r>
            <a:endParaRPr lang="en-US" sz="2800" b="1" dirty="0">
              <a:solidFill>
                <a:schemeClr val="bg1"/>
              </a:solidFill>
              <a:latin typeface="TT Supermolot Neue" panose="020B060402020202020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C7C10B-69BD-4F0A-9209-41CF77DCC8D9}"/>
              </a:ext>
            </a:extLst>
          </p:cNvPr>
          <p:cNvSpPr txBox="1"/>
          <p:nvPr/>
        </p:nvSpPr>
        <p:spPr>
          <a:xfrm>
            <a:off x="9709920" y="7126908"/>
            <a:ext cx="51418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T Supermolot Neue" panose="020B0604020202020204" charset="0"/>
              </a:rPr>
              <a:t>Enable continuous automated retraining using new data and feedback.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205256-5551-4556-8229-98D62EFEF2BC}"/>
              </a:ext>
            </a:extLst>
          </p:cNvPr>
          <p:cNvSpPr txBox="1"/>
          <p:nvPr/>
        </p:nvSpPr>
        <p:spPr>
          <a:xfrm>
            <a:off x="2647731" y="2324204"/>
            <a:ext cx="138242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effectLst/>
                <a:latin typeface="TT Supermolot Neue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Although the proposed system successfully automates support ticket classification and response generation, several improvements can further enhance its capabilities and scalability</a:t>
            </a:r>
            <a:endParaRPr lang="en-US" sz="3200" dirty="0">
              <a:solidFill>
                <a:schemeClr val="bg1"/>
              </a:solidFill>
              <a:latin typeface="TT Supermolot Neue" panose="020B060402020202020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719778" y="5776248"/>
            <a:ext cx="5575939" cy="5028483"/>
          </a:xfrm>
          <a:custGeom>
            <a:avLst/>
            <a:gdLst/>
            <a:ahLst/>
            <a:cxnLst/>
            <a:rect l="l" t="t" r="r" b="b"/>
            <a:pathLst>
              <a:path w="5575939" h="5028483">
                <a:moveTo>
                  <a:pt x="5575939" y="0"/>
                </a:moveTo>
                <a:lnTo>
                  <a:pt x="0" y="0"/>
                </a:lnTo>
                <a:lnTo>
                  <a:pt x="0" y="5028483"/>
                </a:lnTo>
                <a:lnTo>
                  <a:pt x="5575939" y="5028483"/>
                </a:lnTo>
                <a:lnTo>
                  <a:pt x="557593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46905" y="5835391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369944" y="-3592602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1"/>
                </a:moveTo>
                <a:lnTo>
                  <a:pt x="0" y="8044211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1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328538" y="-3206975"/>
            <a:ext cx="8628228" cy="8471351"/>
          </a:xfrm>
          <a:custGeom>
            <a:avLst/>
            <a:gdLst/>
            <a:ahLst/>
            <a:cxnLst/>
            <a:rect l="l" t="t" r="r" b="b"/>
            <a:pathLst>
              <a:path w="8628228" h="8471351">
                <a:moveTo>
                  <a:pt x="0" y="0"/>
                </a:moveTo>
                <a:lnTo>
                  <a:pt x="8628228" y="0"/>
                </a:lnTo>
                <a:lnTo>
                  <a:pt x="8628228" y="8471350"/>
                </a:lnTo>
                <a:lnTo>
                  <a:pt x="0" y="84713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-722606" y="-142115"/>
            <a:ext cx="4247440" cy="3969426"/>
          </a:xfrm>
          <a:custGeom>
            <a:avLst/>
            <a:gdLst/>
            <a:ahLst/>
            <a:cxnLst/>
            <a:rect l="l" t="t" r="r" b="b"/>
            <a:pathLst>
              <a:path w="4247440" h="3969426">
                <a:moveTo>
                  <a:pt x="0" y="3969426"/>
                </a:moveTo>
                <a:lnTo>
                  <a:pt x="4247440" y="3969426"/>
                </a:lnTo>
                <a:lnTo>
                  <a:pt x="4247440" y="0"/>
                </a:lnTo>
                <a:lnTo>
                  <a:pt x="0" y="0"/>
                </a:lnTo>
                <a:lnTo>
                  <a:pt x="0" y="3969426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484427" y="1090660"/>
            <a:ext cx="7319146" cy="84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498"/>
              </a:lnSpc>
            </a:pPr>
            <a:r>
              <a:rPr lang="en-US" sz="6699" b="1" spc="-187" dirty="0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Final Conclusion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891496" y="878201"/>
            <a:ext cx="590311" cy="969167"/>
          </a:xfrm>
          <a:custGeom>
            <a:avLst/>
            <a:gdLst/>
            <a:ahLst/>
            <a:cxnLst/>
            <a:rect l="l" t="t" r="r" b="b"/>
            <a:pathLst>
              <a:path w="590311" h="969167">
                <a:moveTo>
                  <a:pt x="0" y="0"/>
                </a:moveTo>
                <a:lnTo>
                  <a:pt x="590311" y="0"/>
                </a:lnTo>
                <a:lnTo>
                  <a:pt x="590311" y="969167"/>
                </a:lnTo>
                <a:lnTo>
                  <a:pt x="0" y="9691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07130" y="8227554"/>
            <a:ext cx="889764" cy="1460807"/>
          </a:xfrm>
          <a:custGeom>
            <a:avLst/>
            <a:gdLst/>
            <a:ahLst/>
            <a:cxnLst/>
            <a:rect l="l" t="t" r="r" b="b"/>
            <a:pathLst>
              <a:path w="889764" h="1460807">
                <a:moveTo>
                  <a:pt x="0" y="0"/>
                </a:moveTo>
                <a:lnTo>
                  <a:pt x="889764" y="0"/>
                </a:lnTo>
                <a:lnTo>
                  <a:pt x="889764" y="1460807"/>
                </a:lnTo>
                <a:lnTo>
                  <a:pt x="0" y="14608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228B46D3-8243-4613-9D39-843A7C45DDD2}"/>
              </a:ext>
            </a:extLst>
          </p:cNvPr>
          <p:cNvSpPr/>
          <p:nvPr/>
        </p:nvSpPr>
        <p:spPr>
          <a:xfrm>
            <a:off x="642949" y="2947204"/>
            <a:ext cx="4826730" cy="4634344"/>
          </a:xfrm>
          <a:custGeom>
            <a:avLst/>
            <a:gdLst/>
            <a:ahLst/>
            <a:cxnLst/>
            <a:rect l="l" t="t" r="r" b="b"/>
            <a:pathLst>
              <a:path w="5797841" h="6388805">
                <a:moveTo>
                  <a:pt x="0" y="0"/>
                </a:moveTo>
                <a:lnTo>
                  <a:pt x="5797840" y="0"/>
                </a:lnTo>
                <a:lnTo>
                  <a:pt x="5797840" y="6388805"/>
                </a:lnTo>
                <a:lnTo>
                  <a:pt x="0" y="6388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E9A271-46B5-40FA-9B8A-A63DC9B725A8}"/>
              </a:ext>
            </a:extLst>
          </p:cNvPr>
          <p:cNvSpPr txBox="1"/>
          <p:nvPr/>
        </p:nvSpPr>
        <p:spPr>
          <a:xfrm>
            <a:off x="5697847" y="2310149"/>
            <a:ext cx="1060895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T Supermolot Neue" panose="020B0604020202020204" charset="0"/>
              </a:rPr>
              <a:t>-Built an end-to-end AI-powered customer support system.</a:t>
            </a:r>
          </a:p>
          <a:p>
            <a:r>
              <a:rPr lang="en-US" sz="2800" dirty="0">
                <a:solidFill>
                  <a:schemeClr val="bg1"/>
                </a:solidFill>
                <a:latin typeface="TT Supermolot Neue" panose="020B0604020202020204" charset="0"/>
              </a:rPr>
              <a:t>-Compared Traditional ML, </a:t>
            </a:r>
            <a:r>
              <a:rPr lang="en-US" sz="2800" dirty="0" err="1">
                <a:solidFill>
                  <a:schemeClr val="bg1"/>
                </a:solidFill>
                <a:latin typeface="TT Supermolot Neue" panose="020B0604020202020204" charset="0"/>
              </a:rPr>
              <a:t>DistilBERT</a:t>
            </a:r>
            <a:r>
              <a:rPr lang="en-US" sz="2800" dirty="0">
                <a:solidFill>
                  <a:schemeClr val="bg1"/>
                </a:solidFill>
                <a:latin typeface="TT Supermolot Neue" panose="020B0604020202020204" charset="0"/>
              </a:rPr>
              <a:t>, and RAG for ticket classification.</a:t>
            </a:r>
          </a:p>
          <a:p>
            <a:r>
              <a:rPr lang="en-US" sz="2800" dirty="0">
                <a:solidFill>
                  <a:schemeClr val="bg1"/>
                </a:solidFill>
                <a:latin typeface="TT Supermolot Neue" panose="020B0604020202020204" charset="0"/>
              </a:rPr>
              <a:t>-Integrated Azure Machine Learning, Azure AI Search, </a:t>
            </a:r>
            <a:r>
              <a:rPr lang="en-US" sz="2800" dirty="0" err="1">
                <a:solidFill>
                  <a:schemeClr val="bg1"/>
                </a:solidFill>
                <a:latin typeface="TT Supermolot Neue" panose="020B0604020202020204" charset="0"/>
              </a:rPr>
              <a:t>FastAPI</a:t>
            </a:r>
            <a:r>
              <a:rPr lang="en-US" sz="2800" dirty="0">
                <a:solidFill>
                  <a:schemeClr val="bg1"/>
                </a:solidFill>
                <a:latin typeface="TT Supermolot Neue" panose="020B0604020202020204" charset="0"/>
              </a:rPr>
              <a:t>, and SQLite into a deployable application.</a:t>
            </a:r>
          </a:p>
          <a:p>
            <a:r>
              <a:rPr lang="en-US" sz="2800" dirty="0">
                <a:solidFill>
                  <a:schemeClr val="bg1"/>
                </a:solidFill>
                <a:latin typeface="TT Supermolot Neue" panose="020B0604020202020204" charset="0"/>
              </a:rPr>
              <a:t>- Implemented </a:t>
            </a:r>
            <a:r>
              <a:rPr lang="en-US" sz="2800" dirty="0" err="1">
                <a:solidFill>
                  <a:schemeClr val="bg1"/>
                </a:solidFill>
                <a:latin typeface="TT Supermolot Neue" panose="020B0604020202020204" charset="0"/>
              </a:rPr>
              <a:t>MLOps</a:t>
            </a:r>
            <a:r>
              <a:rPr lang="en-US" sz="2800" dirty="0">
                <a:solidFill>
                  <a:schemeClr val="bg1"/>
                </a:solidFill>
                <a:latin typeface="TT Supermolot Neue" panose="020B0604020202020204" charset="0"/>
              </a:rPr>
              <a:t> with </a:t>
            </a:r>
            <a:r>
              <a:rPr lang="en-US" sz="2800" dirty="0" err="1">
                <a:solidFill>
                  <a:schemeClr val="bg1"/>
                </a:solidFill>
                <a:latin typeface="TT Supermolot Neue" panose="020B0604020202020204" charset="0"/>
              </a:rPr>
              <a:t>MLflow</a:t>
            </a:r>
            <a:r>
              <a:rPr lang="en-US" sz="2800" dirty="0">
                <a:solidFill>
                  <a:schemeClr val="bg1"/>
                </a:solidFill>
                <a:latin typeface="TT Supermolot Neue" panose="020B0604020202020204" charset="0"/>
              </a:rPr>
              <a:t>, monitoring, and retraining recommendations.</a:t>
            </a:r>
          </a:p>
          <a:p>
            <a:r>
              <a:rPr lang="en-US" sz="2800" dirty="0">
                <a:solidFill>
                  <a:schemeClr val="bg1"/>
                </a:solidFill>
                <a:latin typeface="TT Supermolot Neue" panose="020B0604020202020204" charset="0"/>
              </a:rPr>
              <a:t>-Delivered an intelligent platform that automates ticket classification, semantic retrieval, AI-assisted response generation, and administrative management.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49852D-5B6D-4A25-B204-DCC0947A72CF}"/>
              </a:ext>
            </a:extLst>
          </p:cNvPr>
          <p:cNvSpPr txBox="1"/>
          <p:nvPr/>
        </p:nvSpPr>
        <p:spPr>
          <a:xfrm>
            <a:off x="5688015" y="7216694"/>
            <a:ext cx="93897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T Supermolot Neue" panose="020B0604020202020204" charset="0"/>
              </a:rPr>
              <a:t>This project demonstrates that combining machine learning, Retrieval-Augmented Generation, cloud deployment, and </a:t>
            </a:r>
            <a:r>
              <a:rPr lang="en-US" sz="2800" dirty="0" err="1">
                <a:solidFill>
                  <a:schemeClr val="bg1"/>
                </a:solidFill>
                <a:latin typeface="TT Supermolot Neue" panose="020B0604020202020204" charset="0"/>
              </a:rPr>
              <a:t>MLOps</a:t>
            </a:r>
            <a:r>
              <a:rPr lang="en-US" sz="2800" dirty="0">
                <a:solidFill>
                  <a:schemeClr val="bg1"/>
                </a:solidFill>
                <a:latin typeface="TT Supermolot Neue" panose="020B0604020202020204" charset="0"/>
              </a:rPr>
              <a:t> can significantly improve the efficiency, scalability, and quality of modern customer support systems.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B4A">
                <a:alpha val="100000"/>
              </a:srgbClr>
            </a:gs>
            <a:gs pos="100000">
              <a:srgbClr val="0F0527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143" y="5669263"/>
            <a:ext cx="5515839" cy="4974284"/>
          </a:xfrm>
          <a:custGeom>
            <a:avLst/>
            <a:gdLst/>
            <a:ahLst/>
            <a:cxnLst/>
            <a:rect l="l" t="t" r="r" b="b"/>
            <a:pathLst>
              <a:path w="5515839" h="4974284">
                <a:moveTo>
                  <a:pt x="0" y="0"/>
                </a:moveTo>
                <a:lnTo>
                  <a:pt x="5515839" y="0"/>
                </a:lnTo>
                <a:lnTo>
                  <a:pt x="5515839" y="4974284"/>
                </a:lnTo>
                <a:lnTo>
                  <a:pt x="0" y="497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744304" y="-356547"/>
            <a:ext cx="5515839" cy="4974284"/>
          </a:xfrm>
          <a:custGeom>
            <a:avLst/>
            <a:gdLst/>
            <a:ahLst/>
            <a:cxnLst/>
            <a:rect l="l" t="t" r="r" b="b"/>
            <a:pathLst>
              <a:path w="5515839" h="4974284">
                <a:moveTo>
                  <a:pt x="5515839" y="4974284"/>
                </a:moveTo>
                <a:lnTo>
                  <a:pt x="0" y="4974284"/>
                </a:lnTo>
                <a:lnTo>
                  <a:pt x="0" y="0"/>
                </a:lnTo>
                <a:lnTo>
                  <a:pt x="5515839" y="0"/>
                </a:lnTo>
                <a:lnTo>
                  <a:pt x="5515839" y="497428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53961" y="5587854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5864961" y="8044211"/>
                </a:moveTo>
                <a:lnTo>
                  <a:pt x="0" y="8044211"/>
                </a:lnTo>
                <a:lnTo>
                  <a:pt x="0" y="0"/>
                </a:lnTo>
                <a:lnTo>
                  <a:pt x="5864961" y="0"/>
                </a:lnTo>
                <a:lnTo>
                  <a:pt x="5864961" y="8044211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594828" y="677040"/>
            <a:ext cx="9098345" cy="8932920"/>
          </a:xfrm>
          <a:custGeom>
            <a:avLst/>
            <a:gdLst/>
            <a:ahLst/>
            <a:cxnLst/>
            <a:rect l="l" t="t" r="r" b="b"/>
            <a:pathLst>
              <a:path w="9098345" h="8932920">
                <a:moveTo>
                  <a:pt x="0" y="0"/>
                </a:moveTo>
                <a:lnTo>
                  <a:pt x="9098344" y="0"/>
                </a:lnTo>
                <a:lnTo>
                  <a:pt x="9098344" y="8932920"/>
                </a:lnTo>
                <a:lnTo>
                  <a:pt x="0" y="89329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299454" y="7222010"/>
            <a:ext cx="7689092" cy="774770"/>
            <a:chOff x="0" y="0"/>
            <a:chExt cx="4033255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33255" cy="406400"/>
            </a:xfrm>
            <a:custGeom>
              <a:avLst/>
              <a:gdLst/>
              <a:ahLst/>
              <a:cxnLst/>
              <a:rect l="l" t="t" r="r" b="b"/>
              <a:pathLst>
                <a:path w="4033255" h="406400">
                  <a:moveTo>
                    <a:pt x="3830055" y="0"/>
                  </a:moveTo>
                  <a:cubicBezTo>
                    <a:pt x="3942280" y="0"/>
                    <a:pt x="4033255" y="90976"/>
                    <a:pt x="4033255" y="203200"/>
                  </a:cubicBezTo>
                  <a:cubicBezTo>
                    <a:pt x="4033255" y="315424"/>
                    <a:pt x="3942280" y="406400"/>
                    <a:pt x="38300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66675" cap="sq">
              <a:gradFill>
                <a:gsLst>
                  <a:gs pos="0">
                    <a:srgbClr val="2A74B2">
                      <a:alpha val="100000"/>
                    </a:srgbClr>
                  </a:gs>
                  <a:gs pos="100000">
                    <a:srgbClr val="24468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332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579400" y="8216638"/>
            <a:ext cx="848660" cy="1393322"/>
          </a:xfrm>
          <a:custGeom>
            <a:avLst/>
            <a:gdLst/>
            <a:ahLst/>
            <a:cxnLst/>
            <a:rect l="l" t="t" r="r" b="b"/>
            <a:pathLst>
              <a:path w="848660" h="1393322">
                <a:moveTo>
                  <a:pt x="0" y="0"/>
                </a:moveTo>
                <a:lnTo>
                  <a:pt x="848660" y="0"/>
                </a:lnTo>
                <a:lnTo>
                  <a:pt x="848660" y="1393322"/>
                </a:lnTo>
                <a:lnTo>
                  <a:pt x="0" y="13933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830921" y="-3259414"/>
            <a:ext cx="5864961" cy="8044211"/>
          </a:xfrm>
          <a:custGeom>
            <a:avLst/>
            <a:gdLst/>
            <a:ahLst/>
            <a:cxnLst/>
            <a:rect l="l" t="t" r="r" b="b"/>
            <a:pathLst>
              <a:path w="5864961" h="8044211">
                <a:moveTo>
                  <a:pt x="0" y="0"/>
                </a:moveTo>
                <a:lnTo>
                  <a:pt x="5864961" y="0"/>
                </a:lnTo>
                <a:lnTo>
                  <a:pt x="5864961" y="8044211"/>
                </a:lnTo>
                <a:lnTo>
                  <a:pt x="0" y="804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59940" y="677040"/>
            <a:ext cx="848660" cy="1393322"/>
          </a:xfrm>
          <a:custGeom>
            <a:avLst/>
            <a:gdLst/>
            <a:ahLst/>
            <a:cxnLst/>
            <a:rect l="l" t="t" r="r" b="b"/>
            <a:pathLst>
              <a:path w="848660" h="1393322">
                <a:moveTo>
                  <a:pt x="0" y="0"/>
                </a:moveTo>
                <a:lnTo>
                  <a:pt x="848660" y="0"/>
                </a:lnTo>
                <a:lnTo>
                  <a:pt x="848660" y="1393322"/>
                </a:lnTo>
                <a:lnTo>
                  <a:pt x="0" y="13933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7045969" y="6472505"/>
            <a:ext cx="590696" cy="969799"/>
          </a:xfrm>
          <a:custGeom>
            <a:avLst/>
            <a:gdLst/>
            <a:ahLst/>
            <a:cxnLst/>
            <a:rect l="l" t="t" r="r" b="b"/>
            <a:pathLst>
              <a:path w="590696" h="969799">
                <a:moveTo>
                  <a:pt x="590696" y="0"/>
                </a:moveTo>
                <a:lnTo>
                  <a:pt x="0" y="0"/>
                </a:lnTo>
                <a:lnTo>
                  <a:pt x="0" y="969799"/>
                </a:lnTo>
                <a:lnTo>
                  <a:pt x="590696" y="969799"/>
                </a:lnTo>
                <a:lnTo>
                  <a:pt x="590696" y="0"/>
                </a:lnTo>
                <a:close/>
              </a:path>
            </a:pathLst>
          </a:custGeom>
          <a:blipFill>
            <a:blip r:embed="rId7">
              <a:alphaModFix amt="7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651335" y="2844696"/>
            <a:ext cx="590696" cy="969799"/>
          </a:xfrm>
          <a:custGeom>
            <a:avLst/>
            <a:gdLst/>
            <a:ahLst/>
            <a:cxnLst/>
            <a:rect l="l" t="t" r="r" b="b"/>
            <a:pathLst>
              <a:path w="590696" h="969799">
                <a:moveTo>
                  <a:pt x="590696" y="0"/>
                </a:moveTo>
                <a:lnTo>
                  <a:pt x="0" y="0"/>
                </a:lnTo>
                <a:lnTo>
                  <a:pt x="0" y="969799"/>
                </a:lnTo>
                <a:lnTo>
                  <a:pt x="590696" y="969799"/>
                </a:lnTo>
                <a:lnTo>
                  <a:pt x="590696" y="0"/>
                </a:lnTo>
                <a:close/>
              </a:path>
            </a:pathLst>
          </a:custGeom>
          <a:blipFill>
            <a:blip r:embed="rId7">
              <a:alphaModFix amt="7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740841" y="2709320"/>
            <a:ext cx="10806318" cy="258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32"/>
              </a:lnSpc>
            </a:pPr>
            <a:r>
              <a:rPr lang="en-US" sz="19724" b="1" spc="-552">
                <a:gradFill>
                  <a:gsLst>
                    <a:gs pos="0">
                      <a:srgbClr val="2A74B2">
                        <a:alpha val="100000"/>
                      </a:srgbClr>
                    </a:gs>
                    <a:gs pos="100000">
                      <a:srgbClr val="244685">
                        <a:alpha val="100000"/>
                      </a:srgbClr>
                    </a:gs>
                  </a:gsLst>
                  <a:lin ang="0"/>
                </a:gra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Thank You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11025" y="4869268"/>
            <a:ext cx="9865949" cy="258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32"/>
              </a:lnSpc>
            </a:pPr>
            <a:r>
              <a:rPr lang="en-US" sz="19724" b="1" spc="-552">
                <a:solidFill>
                  <a:srgbClr val="FCFDFE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So Much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233917" y="7320777"/>
            <a:ext cx="4425222" cy="540105"/>
            <a:chOff x="0" y="0"/>
            <a:chExt cx="3329743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29743" cy="406400"/>
            </a:xfrm>
            <a:custGeom>
              <a:avLst/>
              <a:gdLst/>
              <a:ahLst/>
              <a:cxnLst/>
              <a:rect l="l" t="t" r="r" b="b"/>
              <a:pathLst>
                <a:path w="3329743" h="406400">
                  <a:moveTo>
                    <a:pt x="3126543" y="0"/>
                  </a:moveTo>
                  <a:cubicBezTo>
                    <a:pt x="3238767" y="0"/>
                    <a:pt x="3329743" y="90976"/>
                    <a:pt x="3329743" y="203200"/>
                  </a:cubicBezTo>
                  <a:cubicBezTo>
                    <a:pt x="3329743" y="315424"/>
                    <a:pt x="3238767" y="406400"/>
                    <a:pt x="31265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A74B2">
                    <a:alpha val="100000"/>
                  </a:srgbClr>
                </a:gs>
                <a:gs pos="100000">
                  <a:srgbClr val="24468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329743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618070" y="7333667"/>
            <a:ext cx="366551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Presentation - 2026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1414</Words>
  <Application>Microsoft Office PowerPoint</Application>
  <PresentationFormat>Custom</PresentationFormat>
  <Paragraphs>348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Calibri Light</vt:lpstr>
      <vt:lpstr>TT Supermolot Neue Bold</vt:lpstr>
      <vt:lpstr>Times New Roman</vt:lpstr>
      <vt:lpstr>Calibri</vt:lpstr>
      <vt:lpstr>Symbol</vt:lpstr>
      <vt:lpstr>Arial</vt:lpstr>
      <vt:lpstr>TT Supermolot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Navy And White Modern Tech Artificial Intelligence Presentation</dc:title>
  <cp:lastModifiedBy>Raheeq 20230203</cp:lastModifiedBy>
  <cp:revision>5</cp:revision>
  <dcterms:created xsi:type="dcterms:W3CDTF">2006-08-16T00:00:00Z</dcterms:created>
  <dcterms:modified xsi:type="dcterms:W3CDTF">2026-07-08T19:55:01Z</dcterms:modified>
  <dc:identifier>DAHOp4amgZA</dc:identifier>
</cp:coreProperties>
</file>